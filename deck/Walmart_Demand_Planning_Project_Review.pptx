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8.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9.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0.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1.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2.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7bb8f557-b9f2-e2f0-c5d5-e8afa736d69d}">
          <p14:sldIdLst>
            <p14:sldId id="256"/>
            <p14:sldId id="257"/>
            <p14:sldId id="258"/>
            <p14:sldId id="259"/>
            <p14:sldId id="260"/>
            <p14:sldId id="261"/>
          </p14:sldIdLst>
        </p14:section>
        <p14:section name="How the project was built" id="{4ee57748-b066-cfe0-2b7c-74665cb5063d}">
          <p14:sldIdLst>
            <p14:sldId id="262"/>
            <p14:sldId id="263"/>
            <p14:sldId id="264"/>
            <p14:sldId id="265"/>
            <p14:sldId id="266"/>
            <p14:sldId id="267"/>
            <p14:sldId id="268"/>
            <p14:sldId id="269"/>
            <p14:sldId id="270"/>
          </p14:sldIdLst>
        </p14:section>
        <p14:section name="Forecasting: which forecasts are dependable?" id="{71496669-3b0f-1946-77e5-31effeb04193}">
          <p14:sldIdLst>
            <p14:sldId id="271"/>
            <p14:sldId id="272"/>
            <p14:sldId id="273"/>
            <p14:sldId id="274"/>
            <p14:sldId id="275"/>
            <p14:sldId id="276"/>
            <p14:sldId id="277"/>
            <p14:sldId id="278"/>
          </p14:sldIdLst>
        </p14:section>
        <p14:section name="Weekly review list: which 5 series to check?" id="{788cbc5e-0afc-dad5-e297-075acfb4131c}">
          <p14:sldIdLst>
            <p14:sldId id="279"/>
            <p14:sldId id="280"/>
            <p14:sldId id="281"/>
            <p14:sldId id="282"/>
            <p14:sldId id="283"/>
          </p14:sldIdLst>
        </p14:section>
        <p14:section name="What went wrong, and what we did not test" id="{09033e4c-e772-6750-c363-e946d37f512f}">
          <p14:sldIdLst>
            <p14:sldId id="284"/>
            <p14:sldId id="285"/>
            <p14:sldId id="286"/>
            <p14:sldId id="287"/>
          </p14:sldIdLst>
        </p14:section>
        <p14:section name="Recommendations and next steps" id="{43fea43b-7f53-37d9-41fb-5f1c030cdff2}">
          <p14:sldIdLst>
            <p14:sldId id="288"/>
            <p14:sldId id="289"/>
            <p14:sldId id="290"/>
            <p14:sldId id="291"/>
          </p14:sldIdLst>
        </p14:section>
        <p14:section name="Close" id="{4f57b5e7-08f2-9b4f-c0b9-398060d698c9}">
          <p14:sldIdLst>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Share of all units by department</a:t>
            </a:r>
          </a:p>
        </c:rich>
      </c:tx>
      <c:layout/>
      <c:overlay val="0"/>
    </c:title>
    <c:autoTitleDeleted val="0"/>
    <c:plotArea>
      <c:layout/>
      <c:barChart>
        <c:barDir val="bar"/>
        <c:grouping val="clustered"/>
        <c:varyColors val="0"/>
        <c:ser>
          <c:idx val="0"/>
          <c:order val="0"/>
          <c:tx>
            <c:strRef>
              <c:f>Sheet1!$B$1</c:f>
              <c:strCache>
                <c:ptCount val="1"/>
                <c:pt idx="0">
                  <c:v>Share of units</c:v>
                </c:pt>
              </c:strCache>
            </c:strRef>
          </c:tx>
          <c:spPr>
            <a:solidFill>
              <a:srgbClr val="0F7173"/>
            </a:solidFill>
            <a:effectLst/>
          </c:spPr>
          <c:invertIfNegative val="0"/>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Sheet1!$A$2:$A$8</c:f>
              <c:multiLvlStrCache>
                <c:ptCount val="7"/>
                <c:lvl>
                  <c:pt idx="0">
                    <c:v>FOODS_3</c:v>
                  </c:pt>
                  <c:pt idx="1">
                    <c:v>HOUSEHOLD_1</c:v>
                  </c:pt>
                  <c:pt idx="2">
                    <c:v>FOODS_2</c:v>
                  </c:pt>
                  <c:pt idx="3">
                    <c:v>HOBBIES_1</c:v>
                  </c:pt>
                  <c:pt idx="4">
                    <c:v>FOODS_1</c:v>
                  </c:pt>
                  <c:pt idx="5">
                    <c:v>HOUSEHOLD_2</c:v>
                  </c:pt>
                  <c:pt idx="6">
                    <c:v>HOBBIES_2</c:v>
                  </c:pt>
                </c:lvl>
              </c:multiLvlStrCache>
            </c:multiLvlStrRef>
          </c:cat>
          <c:val>
            <c:numRef>
              <c:f>Sheet1!$B$2:$B$8</c:f>
              <c:numCache>
                <c:formatCode>General</c:formatCode>
                <c:ptCount val="7"/>
                <c:pt idx="0">
                  <c:v>0.492</c:v>
                </c:pt>
                <c:pt idx="1">
                  <c:v>0.175</c:v>
                </c:pt>
                <c:pt idx="2">
                  <c:v>0.116</c:v>
                </c:pt>
                <c:pt idx="3">
                  <c:v>0.085</c:v>
                </c:pt>
                <c:pt idx="4">
                  <c:v>0.078</c:v>
                </c:pt>
                <c:pt idx="5">
                  <c:v>0.045</c:v>
                </c:pt>
                <c:pt idx="6">
                  <c:v>0.008</c:v>
                </c:pt>
              </c:numCache>
            </c:numRef>
          </c:val>
        </c:ser>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6350" cap="flat">
              <a:solidFill>
                <a:srgbClr val="D5DED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Share of all units by store</a:t>
            </a:r>
          </a:p>
        </c:rich>
      </c:tx>
      <c:layout/>
      <c:overlay val="0"/>
    </c:title>
    <c:autoTitleDeleted val="0"/>
    <c:plotArea>
      <c:layout/>
      <c:barChart>
        <c:barDir val="bar"/>
        <c:grouping val="clustered"/>
        <c:varyColors val="0"/>
        <c:ser>
          <c:idx val="0"/>
          <c:order val="0"/>
          <c:tx>
            <c:strRef>
              <c:f>Sheet1!$B$1</c:f>
              <c:strCache>
                <c:ptCount val="1"/>
                <c:pt idx="0">
                  <c:v>Share of units</c:v>
                </c:pt>
              </c:strCache>
            </c:strRef>
          </c:tx>
          <c:spPr>
            <a:solidFill>
              <a:srgbClr val="E09F3E"/>
            </a:solidFill>
            <a:effectLst/>
          </c:spPr>
          <c:invertIfNegative val="0"/>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Sheet1!$A$2:$A$11</c:f>
              <c:multiLvlStrCache>
                <c:ptCount val="10"/>
                <c:lvl>
                  <c:pt idx="0">
                    <c:v>CA_3</c:v>
                  </c:pt>
                  <c:pt idx="1">
                    <c:v>CA_1</c:v>
                  </c:pt>
                  <c:pt idx="2">
                    <c:v>TX_2</c:v>
                  </c:pt>
                  <c:pt idx="3">
                    <c:v>WI_2</c:v>
                  </c:pt>
                  <c:pt idx="4">
                    <c:v>WI_3</c:v>
                  </c:pt>
                  <c:pt idx="5">
                    <c:v>TX_3</c:v>
                  </c:pt>
                  <c:pt idx="6">
                    <c:v>CA_2</c:v>
                  </c:pt>
                  <c:pt idx="7">
                    <c:v>TX_1</c:v>
                  </c:pt>
                  <c:pt idx="8">
                    <c:v>WI_1</c:v>
                  </c:pt>
                  <c:pt idx="9">
                    <c:v>CA_4</c:v>
                  </c:pt>
                </c:lvl>
              </c:multiLvlStrCache>
            </c:multiLvlStrRef>
          </c:cat>
          <c:val>
            <c:numRef>
              <c:f>Sheet1!$B$2:$B$11</c:f>
              <c:numCache>
                <c:formatCode>General</c:formatCode>
                <c:ptCount val="10"/>
                <c:pt idx="0">
                  <c:v>0.17</c:v>
                </c:pt>
                <c:pt idx="1">
                  <c:v>0.117</c:v>
                </c:pt>
                <c:pt idx="2">
                  <c:v>0.11</c:v>
                </c:pt>
                <c:pt idx="3">
                  <c:v>0.1</c:v>
                </c:pt>
                <c:pt idx="4">
                  <c:v>0.098</c:v>
                </c:pt>
                <c:pt idx="5">
                  <c:v>0.093</c:v>
                </c:pt>
                <c:pt idx="6">
                  <c:v>0.087</c:v>
                </c:pt>
                <c:pt idx="7">
                  <c:v>0.085</c:v>
                </c:pt>
                <c:pt idx="8">
                  <c:v>0.079</c:v>
                </c:pt>
                <c:pt idx="9">
                  <c:v>0.062</c:v>
                </c:pt>
              </c:numCache>
            </c:numRef>
          </c:val>
        </c:ser>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0.2"/>
          <c:min val="0"/>
        </c:scaling>
        <c:delete val="0"/>
        <c:axPos val="b"/>
        <c:majorGridlines>
          <c:spPr>
            <a:ln w="6350" cap="flat">
              <a:solidFill>
                <a:srgbClr val="D5DED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Sales on SNAP days vs other days, 2012-2015</a:t>
            </a:r>
          </a:p>
        </c:rich>
      </c:tx>
      <c:layout/>
      <c:overlay val="0"/>
    </c:title>
    <c:autoTitleDeleted val="0"/>
    <c:plotArea>
      <c:layout/>
      <c:barChart>
        <c:barDir val="col"/>
        <c:grouping val="clustered"/>
        <c:varyColors val="0"/>
        <c:ser>
          <c:idx val="0"/>
          <c:order val="0"/>
          <c:tx>
            <c:strRef>
              <c:f>Sheet1!$B$1</c:f>
              <c:strCache>
                <c:ptCount val="1"/>
                <c:pt idx="0">
                  <c:v>FOODS</c:v>
                </c:pt>
              </c:strCache>
            </c:strRef>
          </c:tx>
          <c:spPr>
            <a:solidFill>
              <a:srgbClr val="0F7173"/>
            </a:solidFill>
            <a:effectLst/>
          </c:spPr>
          <c:invertIfNegative val="0"/>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CA</c:v>
                  </c:pt>
                  <c:pt idx="1">
                    <c:v>TX</c:v>
                  </c:pt>
                  <c:pt idx="2">
                    <c:v>WI</c:v>
                  </c:pt>
                </c:lvl>
              </c:multiLvlStrCache>
            </c:multiLvlStrRef>
          </c:cat>
          <c:val>
            <c:numRef>
              <c:f>Sheet1!$B$2:$B$4</c:f>
              <c:numCache>
                <c:formatCode>General</c:formatCode>
                <c:ptCount val="3"/>
                <c:pt idx="0">
                  <c:v>0.105</c:v>
                </c:pt>
                <c:pt idx="1">
                  <c:v>0.155</c:v>
                </c:pt>
                <c:pt idx="2">
                  <c:v>0.308</c:v>
                </c:pt>
              </c:numCache>
            </c:numRef>
          </c:val>
        </c:ser>
        <c:ser>
          <c:idx val="1"/>
          <c:order val="1"/>
          <c:tx>
            <c:strRef>
              <c:f>Sheet1!$C$1</c:f>
              <c:strCache>
                <c:ptCount val="1"/>
                <c:pt idx="0">
                  <c:v>HOUSEHOLD</c:v>
                </c:pt>
              </c:strCache>
            </c:strRef>
          </c:tx>
          <c:spPr>
            <a:solidFill>
              <a:srgbClr val="E09F3E"/>
            </a:solidFill>
            <a:effectLst/>
          </c:spPr>
          <c:invertIfNegative val="0"/>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CA</c:v>
                  </c:pt>
                  <c:pt idx="1">
                    <c:v>TX</c:v>
                  </c:pt>
                  <c:pt idx="2">
                    <c:v>WI</c:v>
                  </c:pt>
                </c:lvl>
              </c:multiLvlStrCache>
            </c:multiLvlStrRef>
          </c:cat>
          <c:val>
            <c:numRef>
              <c:f>Sheet1!$C$2:$C$4</c:f>
              <c:numCache>
                <c:formatCode>General</c:formatCode>
                <c:ptCount val="3"/>
                <c:pt idx="0">
                  <c:v>0.036</c:v>
                </c:pt>
                <c:pt idx="1">
                  <c:v>0.033</c:v>
                </c:pt>
                <c:pt idx="2">
                  <c:v>0.036</c:v>
                </c:pt>
              </c:numCache>
            </c:numRef>
          </c:val>
        </c:ser>
        <c:ser>
          <c:idx val="2"/>
          <c:order val="2"/>
          <c:tx>
            <c:strRef>
              <c:f>Sheet1!$D$1</c:f>
              <c:strCache>
                <c:ptCount val="1"/>
                <c:pt idx="0">
                  <c:v>HOBBIES</c:v>
                </c:pt>
              </c:strCache>
            </c:strRef>
          </c:tx>
          <c:spPr>
            <a:solidFill>
              <a:srgbClr val="9AA5A6"/>
            </a:solidFill>
            <a:effectLst/>
          </c:spPr>
          <c:invertIfNegative val="0"/>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Sheet1!$A$2:$A$4</c:f>
              <c:multiLvlStrCache>
                <c:ptCount val="3"/>
                <c:lvl>
                  <c:pt idx="0">
                    <c:v>CA</c:v>
                  </c:pt>
                  <c:pt idx="1">
                    <c:v>TX</c:v>
                  </c:pt>
                  <c:pt idx="2">
                    <c:v>WI</c:v>
                  </c:pt>
                </c:lvl>
              </c:multiLvlStrCache>
            </c:multiLvlStrRef>
          </c:cat>
          <c:val>
            <c:numRef>
              <c:f>Sheet1!$D$2:$D$4</c:f>
              <c:numCache>
                <c:formatCode>General</c:formatCode>
                <c:ptCount val="3"/>
                <c:pt idx="0">
                  <c:v>0.027</c:v>
                </c:pt>
                <c:pt idx="1">
                  <c:v>0.017</c:v>
                </c:pt>
                <c:pt idx="2">
                  <c:v>0.017</c:v>
                </c:pt>
              </c:numCache>
            </c:numRef>
          </c:val>
        </c:ser>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0.35"/>
          <c:min val="0"/>
        </c:scaling>
        <c:delete val="0"/>
        <c:axPos val="l"/>
        <c:majorGridlines>
          <c:spPr>
            <a:ln w="6350" cap="flat">
              <a:solidFill>
                <a:srgbClr val="D5DED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Mean RMSSE on tuning origins (lower is better)</a:t>
            </a:r>
          </a:p>
        </c:rich>
      </c:tx>
      <c:layout/>
      <c:overlay val="0"/>
    </c:title>
    <c:autoTitleDeleted val="0"/>
    <c:plotArea>
      <c:layout/>
      <c:barChart>
        <c:barDir val="bar"/>
        <c:grouping val="clustered"/>
        <c:varyColors val="0"/>
        <c:ser>
          <c:idx val="0"/>
          <c:order val="0"/>
          <c:tx>
            <c:strRef>
              <c:f>Sheet1!$B$1</c:f>
              <c:strCache>
                <c:ptCount val="1"/>
                <c:pt idx="0">
                  <c:v>Mean RMSSE</c:v>
                </c:pt>
              </c:strCache>
            </c:strRef>
          </c:tx>
          <c:spPr>
            <a:solidFill>
              <a:srgbClr val="0F7173"/>
            </a:solidFill>
            <a:effectLst/>
          </c:spPr>
          <c:invertIfNegative val="0"/>
          <c:dLbls>
            <c:numFmt formatCode="0.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dPt>
            <c:idx val="0"/>
            <c:invertIfNegative val="0"/>
            <c:bubble3D val="0"/>
            <c:spPr>
              <a:solidFill>
                <a:srgbClr val="0F7173"/>
              </a:solidFill>
              <a:effectLst/>
            </c:spPr>
          </c:dPt>
          <c:dPt>
            <c:idx val="1"/>
            <c:invertIfNegative val="0"/>
            <c:bubble3D val="0"/>
            <c:spPr>
              <a:solidFill>
                <a:srgbClr val="0F7173"/>
              </a:solidFill>
              <a:effectLst/>
            </c:spPr>
          </c:dPt>
          <c:dPt>
            <c:idx val="2"/>
            <c:invertIfNegative val="0"/>
            <c:bubble3D val="0"/>
            <c:spPr>
              <a:solidFill>
                <a:srgbClr val="0F7173"/>
              </a:solidFill>
              <a:effectLst/>
            </c:spPr>
          </c:dPt>
          <c:dPt>
            <c:idx val="3"/>
            <c:invertIfNegative val="0"/>
            <c:bubble3D val="0"/>
            <c:spPr>
              <a:solidFill>
                <a:srgbClr val="E09F3E"/>
              </a:solidFill>
              <a:effectLst/>
            </c:spPr>
          </c:dPt>
          <c:dPt>
            <c:idx val="4"/>
            <c:invertIfNegative val="0"/>
            <c:bubble3D val="0"/>
            <c:spPr>
              <a:solidFill>
                <a:srgbClr val="9AA5A6"/>
              </a:solidFill>
              <a:effectLst/>
            </c:spPr>
          </c:dPt>
          <c:cat>
            <c:multiLvlStrRef>
              <c:f>Sheet1!$A$2:$A$6</c:f>
              <c:multiLvlStrCache>
                <c:ptCount val="5"/>
                <c:lvl>
                  <c:pt idx="0">
                    <c:v>Tweedie 63 leaves</c:v>
                  </c:pt>
                  <c:pt idx="1">
                    <c:v>Tweedie 31 leaves</c:v>
                  </c:pt>
                  <c:pt idx="2">
                    <c:v>Poisson 31 leaves</c:v>
                  </c:pt>
                  <c:pt idx="3">
                    <c:v>ETS</c:v>
                  </c:pt>
                  <c:pt idx="4">
                    <c:v>Seasonal naive</c:v>
                  </c:pt>
                </c:lvl>
              </c:multiLvlStrCache>
            </c:multiLvlStrRef>
          </c:cat>
          <c:val>
            <c:numRef>
              <c:f>Sheet1!$B$2:$B$6</c:f>
              <c:numCache>
                <c:formatCode>General</c:formatCode>
                <c:ptCount val="5"/>
                <c:pt idx="0">
                  <c:v>0.658</c:v>
                </c:pt>
                <c:pt idx="1">
                  <c:v>0.662</c:v>
                </c:pt>
                <c:pt idx="2">
                  <c:v>0.664</c:v>
                </c:pt>
                <c:pt idx="3">
                  <c:v>0.673</c:v>
                </c:pt>
                <c:pt idx="4">
                  <c:v>0.896</c:v>
                </c:pt>
              </c:numCache>
            </c:numRef>
          </c:val>
        </c:ser>
        <c:dLbls>
          <c:numFmt formatCode="0.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D5DE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Mean RMSSE, 6 validation periods</a:t>
            </a:r>
          </a:p>
        </c:rich>
      </c:tx>
      <c:layout/>
      <c:overlay val="0"/>
    </c:title>
    <c:autoTitleDeleted val="0"/>
    <c:plotArea>
      <c:layout/>
      <c:barChart>
        <c:barDir val="col"/>
        <c:grouping val="clustered"/>
        <c:varyColors val="0"/>
        <c:ser>
          <c:idx val="0"/>
          <c:order val="0"/>
          <c:tx>
            <c:strRef>
              <c:f>Sheet1!$B$1</c:f>
              <c:strCache>
                <c:ptCount val="1"/>
                <c:pt idx="0">
                  <c:v>Mean RMSSE</c:v>
                </c:pt>
              </c:strCache>
            </c:strRef>
          </c:tx>
          <c:spPr>
            <a:solidFill>
              <a:srgbClr val="0F7173"/>
            </a:solidFill>
            <a:effectLst/>
          </c:spPr>
          <c:invertIfNegative val="0"/>
          <c:dLbls>
            <c:numFmt formatCode="0.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dPt>
            <c:idx val="0"/>
            <c:invertIfNegative val="0"/>
            <c:bubble3D val="0"/>
            <c:spPr>
              <a:solidFill>
                <a:srgbClr val="0F7173"/>
              </a:solidFill>
              <a:effectLst/>
            </c:spPr>
          </c:dPt>
          <c:dPt>
            <c:idx val="1"/>
            <c:invertIfNegative val="0"/>
            <c:bubble3D val="0"/>
            <c:spPr>
              <a:solidFill>
                <a:srgbClr val="E09F3E"/>
              </a:solidFill>
              <a:effectLst/>
            </c:spPr>
          </c:dPt>
          <c:dPt>
            <c:idx val="2"/>
            <c:invertIfNegative val="0"/>
            <c:bubble3D val="0"/>
            <c:spPr>
              <a:solidFill>
                <a:srgbClr val="9AA5A6"/>
              </a:solidFill>
              <a:effectLst/>
            </c:spPr>
          </c:dPt>
          <c:cat>
            <c:multiLvlStrRef>
              <c:f>Sheet1!$A$2:$A$4</c:f>
              <c:multiLvlStrCache>
                <c:ptCount val="3"/>
                <c:lvl>
                  <c:pt idx="0">
                    <c:v>LightGBM</c:v>
                  </c:pt>
                  <c:pt idx="1">
                    <c:v>ETS</c:v>
                  </c:pt>
                  <c:pt idx="2">
                    <c:v>Seasonal naive</c:v>
                  </c:pt>
                </c:lvl>
              </c:multiLvlStrCache>
            </c:multiLvlStrRef>
          </c:cat>
          <c:val>
            <c:numRef>
              <c:f>Sheet1!$B$2:$B$4</c:f>
              <c:numCache>
                <c:formatCode>General</c:formatCode>
                <c:ptCount val="3"/>
                <c:pt idx="0">
                  <c:v>0.674</c:v>
                </c:pt>
                <c:pt idx="1">
                  <c:v>0.688</c:v>
                </c:pt>
                <c:pt idx="2">
                  <c:v>0.889</c:v>
                </c:pt>
              </c:numCache>
            </c:numRef>
          </c:val>
        </c:ser>
        <c:dLbls>
          <c:numFmt formatCode="0.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DE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Mean RMSSE by validation forecast date</a:t>
            </a:r>
          </a:p>
        </c:rich>
      </c:tx>
      <c:layout/>
      <c:overlay val="0"/>
    </c:title>
    <c:autoTitleDeleted val="0"/>
    <c:plotArea>
      <c:layout/>
      <c:lineChart>
        <c:varyColors val="0"/>
        <c:ser>
          <c:idx val="0"/>
          <c:order val="0"/>
          <c:tx>
            <c:strRef>
              <c:f>Sheet1!$B$1</c:f>
              <c:strCache>
                <c:ptCount val="1"/>
                <c:pt idx="0">
                  <c:v>LightGBM</c:v>
                </c:pt>
              </c:strCache>
            </c:strRef>
          </c:tx>
          <c:spPr>
            <a:solidFill>
              <a:srgbClr val="0F7173"/>
            </a:solidFill>
            <a:ln w="38100" cap="flat">
              <a:solidFill>
                <a:srgbClr val="0F7173"/>
              </a:solidFill>
              <a:prstDash val="solid"/>
              <a:round/>
            </a:ln>
            <a:effectLst/>
          </c:spPr>
          <c:invertIfNegative val="0"/>
          <c:dLbls>
            <c:numFmt formatCode="#,##0"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showLeaderLines val="0"/>
          </c:dLbls>
          <c:marker>
            <c:symbol val="circle"/>
            <c:size val="8"/>
            <c:spPr>
              <a:solidFill>
                <a:srgbClr val="0F7173"/>
              </a:solidFill>
              <a:ln w="9525" cap="flat">
                <a:solidFill>
                  <a:srgbClr val="0F7173"/>
                </a:solidFill>
                <a:prstDash val="solid"/>
                <a:round/>
              </a:ln>
              <a:effectLst/>
            </c:spPr>
          </c:marker>
          <c:cat>
            <c:multiLvlStrRef>
              <c:f>Sheet1!$A$2:$A$7</c:f>
              <c:multiLvlStrCache>
                <c:ptCount val="6"/>
                <c:lvl>
                  <c:pt idx="0">
                    <c:v>d1745</c:v>
                  </c:pt>
                  <c:pt idx="1">
                    <c:v>d1773</c:v>
                  </c:pt>
                  <c:pt idx="2">
                    <c:v>d1801</c:v>
                  </c:pt>
                  <c:pt idx="3">
                    <c:v>d1829</c:v>
                  </c:pt>
                  <c:pt idx="4">
                    <c:v>d1857</c:v>
                  </c:pt>
                  <c:pt idx="5">
                    <c:v>d1885</c:v>
                  </c:pt>
                </c:lvl>
              </c:multiLvlStrCache>
            </c:multiLvlStrRef>
          </c:cat>
          <c:val>
            <c:numRef>
              <c:f>Sheet1!$B$2:$B$7</c:f>
              <c:numCache>
                <c:formatCode>General</c:formatCode>
                <c:ptCount val="6"/>
                <c:pt idx="0">
                  <c:v>0.669</c:v>
                </c:pt>
                <c:pt idx="1">
                  <c:v>0.654</c:v>
                </c:pt>
                <c:pt idx="2">
                  <c:v>0.654</c:v>
                </c:pt>
                <c:pt idx="3">
                  <c:v>0.683</c:v>
                </c:pt>
                <c:pt idx="4">
                  <c:v>0.696</c:v>
                </c:pt>
                <c:pt idx="5">
                  <c:v>0.686</c:v>
                </c:pt>
              </c:numCache>
            </c:numRef>
          </c:val>
          <c:smooth val="0"/>
        </c:ser>
        <c:ser>
          <c:idx val="1"/>
          <c:order val="1"/>
          <c:tx>
            <c:strRef>
              <c:f>Sheet1!$C$1</c:f>
              <c:strCache>
                <c:ptCount val="1"/>
                <c:pt idx="0">
                  <c:v>ETS</c:v>
                </c:pt>
              </c:strCache>
            </c:strRef>
          </c:tx>
          <c:spPr>
            <a:solidFill>
              <a:srgbClr val="E09F3E"/>
            </a:solidFill>
            <a:ln w="38100" cap="flat">
              <a:solidFill>
                <a:srgbClr val="E09F3E"/>
              </a:solidFill>
              <a:prstDash val="solid"/>
              <a:round/>
            </a:ln>
            <a:effectLst/>
          </c:spPr>
          <c:invertIfNegative val="0"/>
          <c:dLbls>
            <c:numFmt formatCode="#,##0"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showLeaderLines val="0"/>
          </c:dLbls>
          <c:marker>
            <c:symbol val="circle"/>
            <c:size val="8"/>
            <c:spPr>
              <a:solidFill>
                <a:srgbClr val="E09F3E"/>
              </a:solidFill>
              <a:ln w="9525" cap="flat">
                <a:solidFill>
                  <a:srgbClr val="E09F3E"/>
                </a:solidFill>
                <a:prstDash val="solid"/>
                <a:round/>
              </a:ln>
              <a:effectLst/>
            </c:spPr>
          </c:marker>
          <c:cat>
            <c:multiLvlStrRef>
              <c:f>Sheet1!$A$2:$A$7</c:f>
              <c:multiLvlStrCache>
                <c:ptCount val="6"/>
                <c:lvl>
                  <c:pt idx="0">
                    <c:v>d1745</c:v>
                  </c:pt>
                  <c:pt idx="1">
                    <c:v>d1773</c:v>
                  </c:pt>
                  <c:pt idx="2">
                    <c:v>d1801</c:v>
                  </c:pt>
                  <c:pt idx="3">
                    <c:v>d1829</c:v>
                  </c:pt>
                  <c:pt idx="4">
                    <c:v>d1857</c:v>
                  </c:pt>
                  <c:pt idx="5">
                    <c:v>d1885</c:v>
                  </c:pt>
                </c:lvl>
              </c:multiLvlStrCache>
            </c:multiLvlStrRef>
          </c:cat>
          <c:val>
            <c:numRef>
              <c:f>Sheet1!$C$2:$C$7</c:f>
              <c:numCache>
                <c:formatCode>General</c:formatCode>
                <c:ptCount val="6"/>
                <c:pt idx="0">
                  <c:v>0.676</c:v>
                </c:pt>
                <c:pt idx="1">
                  <c:v>0.674</c:v>
                </c:pt>
                <c:pt idx="2">
                  <c:v>0.665</c:v>
                </c:pt>
                <c:pt idx="3">
                  <c:v>0.697</c:v>
                </c:pt>
                <c:pt idx="4">
                  <c:v>0.708</c:v>
                </c:pt>
                <c:pt idx="5">
                  <c:v>0.706</c:v>
                </c:pt>
              </c:numCache>
            </c:numRef>
          </c:val>
          <c:smooth val="0"/>
        </c:ser>
        <c:ser>
          <c:idx val="2"/>
          <c:order val="2"/>
          <c:tx>
            <c:strRef>
              <c:f>Sheet1!$D$1</c:f>
              <c:strCache>
                <c:ptCount val="1"/>
                <c:pt idx="0">
                  <c:v>Seasonal naive</c:v>
                </c:pt>
              </c:strCache>
            </c:strRef>
          </c:tx>
          <c:spPr>
            <a:solidFill>
              <a:srgbClr val="9AA5A6"/>
            </a:solidFill>
            <a:ln w="38100" cap="flat">
              <a:solidFill>
                <a:srgbClr val="9AA5A6"/>
              </a:solidFill>
              <a:prstDash val="solid"/>
              <a:round/>
            </a:ln>
            <a:effectLst/>
          </c:spPr>
          <c:invertIfNegative val="0"/>
          <c:dLbls>
            <c:numFmt formatCode="#,##0"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showLeaderLines val="0"/>
          </c:dLbls>
          <c:marker>
            <c:symbol val="circle"/>
            <c:size val="8"/>
            <c:spPr>
              <a:solidFill>
                <a:srgbClr val="9AA5A6"/>
              </a:solidFill>
              <a:ln w="9525" cap="flat">
                <a:solidFill>
                  <a:srgbClr val="9AA5A6"/>
                </a:solidFill>
                <a:prstDash val="solid"/>
                <a:round/>
              </a:ln>
              <a:effectLst/>
            </c:spPr>
          </c:marker>
          <c:cat>
            <c:multiLvlStrRef>
              <c:f>Sheet1!$A$2:$A$7</c:f>
              <c:multiLvlStrCache>
                <c:ptCount val="6"/>
                <c:lvl>
                  <c:pt idx="0">
                    <c:v>d1745</c:v>
                  </c:pt>
                  <c:pt idx="1">
                    <c:v>d1773</c:v>
                  </c:pt>
                  <c:pt idx="2">
                    <c:v>d1801</c:v>
                  </c:pt>
                  <c:pt idx="3">
                    <c:v>d1829</c:v>
                  </c:pt>
                  <c:pt idx="4">
                    <c:v>d1857</c:v>
                  </c:pt>
                  <c:pt idx="5">
                    <c:v>d1885</c:v>
                  </c:pt>
                </c:lvl>
              </c:multiLvlStrCache>
            </c:multiLvlStrRef>
          </c:cat>
          <c:val>
            <c:numRef>
              <c:f>Sheet1!$D$2:$D$7</c:f>
              <c:numCache>
                <c:formatCode>General</c:formatCode>
                <c:ptCount val="6"/>
                <c:pt idx="0">
                  <c:v>0.861</c:v>
                </c:pt>
                <c:pt idx="1">
                  <c:v>0.882</c:v>
                </c:pt>
                <c:pt idx="2">
                  <c:v>0.876</c:v>
                </c:pt>
                <c:pt idx="3">
                  <c:v>0.874</c:v>
                </c:pt>
                <c:pt idx="4">
                  <c:v>0.923</c:v>
                </c:pt>
                <c:pt idx="5">
                  <c:v>0.918</c:v>
                </c:pt>
              </c:numCache>
            </c:numRef>
          </c:val>
          <c:smooth val="0"/>
        </c:ser>
        <c:dLbls>
          <c:numFmt formatCode="#,##0"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0.95"/>
          <c:min val="0.6"/>
        </c:scaling>
        <c:delete val="0"/>
        <c:axPos val="l"/>
        <c:majorGridlines>
          <c:spPr>
            <a:ln w="6350" cap="flat">
              <a:solidFill>
                <a:srgbClr val="D5DED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Mean RMSSE by segment, validation</a:t>
            </a:r>
          </a:p>
        </c:rich>
      </c:tx>
      <c:layout/>
      <c:overlay val="0"/>
    </c:title>
    <c:autoTitleDeleted val="0"/>
    <c:plotArea>
      <c:layout/>
      <c:barChart>
        <c:barDir val="col"/>
        <c:grouping val="clustered"/>
        <c:varyColors val="0"/>
        <c:ser>
          <c:idx val="0"/>
          <c:order val="0"/>
          <c:tx>
            <c:strRef>
              <c:f>Sheet1!$B$1</c:f>
              <c:strCache>
                <c:ptCount val="1"/>
                <c:pt idx="0">
                  <c:v>LightGBM</c:v>
                </c:pt>
              </c:strCache>
            </c:strRef>
          </c:tx>
          <c:spPr>
            <a:solidFill>
              <a:srgbClr val="0F7173"/>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High volume</c:v>
                  </c:pt>
                  <c:pt idx="1">
                    <c:v>Medium volume</c:v>
                  </c:pt>
                  <c:pt idx="2">
                    <c:v>Low volume</c:v>
                  </c:pt>
                  <c:pt idx="3">
                    <c:v>Frequent sellers</c:v>
                  </c:pt>
                  <c:pt idx="4">
                    <c:v>Irregular sellers</c:v>
                  </c:pt>
                </c:lvl>
              </c:multiLvlStrCache>
            </c:multiLvlStrRef>
          </c:cat>
          <c:val>
            <c:numRef>
              <c:f>Sheet1!$B$2:$B$6</c:f>
              <c:numCache>
                <c:formatCode>General</c:formatCode>
                <c:ptCount val="5"/>
                <c:pt idx="0">
                  <c:v>0.694</c:v>
                </c:pt>
                <c:pt idx="1">
                  <c:v>0.693</c:v>
                </c:pt>
                <c:pt idx="2">
                  <c:v>0.595</c:v>
                </c:pt>
                <c:pt idx="3">
                  <c:v>0.695</c:v>
                </c:pt>
                <c:pt idx="4">
                  <c:v>0.659</c:v>
                </c:pt>
              </c:numCache>
            </c:numRef>
          </c:val>
        </c:ser>
        <c:ser>
          <c:idx val="1"/>
          <c:order val="1"/>
          <c:tx>
            <c:strRef>
              <c:f>Sheet1!$C$1</c:f>
              <c:strCache>
                <c:ptCount val="1"/>
                <c:pt idx="0">
                  <c:v>ETS</c:v>
                </c:pt>
              </c:strCache>
            </c:strRef>
          </c:tx>
          <c:spPr>
            <a:solidFill>
              <a:srgbClr val="E09F3E"/>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High volume</c:v>
                  </c:pt>
                  <c:pt idx="1">
                    <c:v>Medium volume</c:v>
                  </c:pt>
                  <c:pt idx="2">
                    <c:v>Low volume</c:v>
                  </c:pt>
                  <c:pt idx="3">
                    <c:v>Frequent sellers</c:v>
                  </c:pt>
                  <c:pt idx="4">
                    <c:v>Irregular sellers</c:v>
                  </c:pt>
                </c:lvl>
              </c:multiLvlStrCache>
            </c:multiLvlStrRef>
          </c:cat>
          <c:val>
            <c:numRef>
              <c:f>Sheet1!$C$2:$C$6</c:f>
              <c:numCache>
                <c:formatCode>General</c:formatCode>
                <c:ptCount val="5"/>
                <c:pt idx="0">
                  <c:v>0.71</c:v>
                </c:pt>
                <c:pt idx="1">
                  <c:v>0.71</c:v>
                </c:pt>
                <c:pt idx="2">
                  <c:v>0.598</c:v>
                </c:pt>
                <c:pt idx="3">
                  <c:v>0.714</c:v>
                </c:pt>
                <c:pt idx="4">
                  <c:v>0.669</c:v>
                </c:pt>
              </c:numCache>
            </c:numRef>
          </c:val>
        </c:ser>
        <c:ser>
          <c:idx val="2"/>
          <c:order val="2"/>
          <c:tx>
            <c:strRef>
              <c:f>Sheet1!$D$1</c:f>
              <c:strCache>
                <c:ptCount val="1"/>
                <c:pt idx="0">
                  <c:v>Seasonal naive</c:v>
                </c:pt>
              </c:strCache>
            </c:strRef>
          </c:tx>
          <c:spPr>
            <a:solidFill>
              <a:srgbClr val="9AA5A6"/>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High volume</c:v>
                  </c:pt>
                  <c:pt idx="1">
                    <c:v>Medium volume</c:v>
                  </c:pt>
                  <c:pt idx="2">
                    <c:v>Low volume</c:v>
                  </c:pt>
                  <c:pt idx="3">
                    <c:v>Frequent sellers</c:v>
                  </c:pt>
                  <c:pt idx="4">
                    <c:v>Irregular sellers</c:v>
                  </c:pt>
                </c:lvl>
              </c:multiLvlStrCache>
            </c:multiLvlStrRef>
          </c:cat>
          <c:val>
            <c:numRef>
              <c:f>Sheet1!$D$2:$D$6</c:f>
              <c:numCache>
                <c:formatCode>General</c:formatCode>
                <c:ptCount val="5"/>
                <c:pt idx="0">
                  <c:v>0.899</c:v>
                </c:pt>
                <c:pt idx="1">
                  <c:v>0.93</c:v>
                </c:pt>
                <c:pt idx="2">
                  <c:v>0.788</c:v>
                </c:pt>
                <c:pt idx="3">
                  <c:v>0.927</c:v>
                </c:pt>
                <c:pt idx="4">
                  <c:v>0.863</c:v>
                </c:pt>
              </c:numCache>
            </c:numRef>
          </c:val>
        </c:ser>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DE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Mean RMSSE, final 28 days</a:t>
            </a:r>
          </a:p>
        </c:rich>
      </c:tx>
      <c:layout/>
      <c:overlay val="0"/>
    </c:title>
    <c:autoTitleDeleted val="0"/>
    <c:plotArea>
      <c:layout/>
      <c:barChart>
        <c:barDir val="col"/>
        <c:grouping val="clustered"/>
        <c:varyColors val="0"/>
        <c:ser>
          <c:idx val="0"/>
          <c:order val="0"/>
          <c:tx>
            <c:strRef>
              <c:f>Sheet1!$B$1</c:f>
              <c:strCache>
                <c:ptCount val="1"/>
                <c:pt idx="0">
                  <c:v>Mean RMSSE</c:v>
                </c:pt>
              </c:strCache>
            </c:strRef>
          </c:tx>
          <c:spPr>
            <a:solidFill>
              <a:srgbClr val="0F7173"/>
            </a:solidFill>
            <a:effectLst/>
          </c:spPr>
          <c:invertIfNegative val="0"/>
          <c:dLbls>
            <c:numFmt formatCode="0.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dPt>
            <c:idx val="0"/>
            <c:invertIfNegative val="0"/>
            <c:bubble3D val="0"/>
            <c:spPr>
              <a:solidFill>
                <a:srgbClr val="0F7173"/>
              </a:solidFill>
              <a:effectLst/>
            </c:spPr>
          </c:dPt>
          <c:dPt>
            <c:idx val="1"/>
            <c:invertIfNegative val="0"/>
            <c:bubble3D val="0"/>
            <c:spPr>
              <a:solidFill>
                <a:srgbClr val="E09F3E"/>
              </a:solidFill>
              <a:effectLst/>
            </c:spPr>
          </c:dPt>
          <c:dPt>
            <c:idx val="2"/>
            <c:invertIfNegative val="0"/>
            <c:bubble3D val="0"/>
            <c:spPr>
              <a:solidFill>
                <a:srgbClr val="9AA5A6"/>
              </a:solidFill>
              <a:effectLst/>
            </c:spPr>
          </c:dPt>
          <c:cat>
            <c:multiLvlStrRef>
              <c:f>Sheet1!$A$2:$A$4</c:f>
              <c:multiLvlStrCache>
                <c:ptCount val="3"/>
                <c:lvl>
                  <c:pt idx="0">
                    <c:v>LightGBM</c:v>
                  </c:pt>
                  <c:pt idx="1">
                    <c:v>ETS</c:v>
                  </c:pt>
                  <c:pt idx="2">
                    <c:v>Seasonal naive</c:v>
                  </c:pt>
                </c:lvl>
              </c:multiLvlStrCache>
            </c:multiLvlStrRef>
          </c:cat>
          <c:val>
            <c:numRef>
              <c:f>Sheet1!$B$2:$B$4</c:f>
              <c:numCache>
                <c:formatCode>General</c:formatCode>
                <c:ptCount val="3"/>
                <c:pt idx="0">
                  <c:v>0.733</c:v>
                </c:pt>
                <c:pt idx="1">
                  <c:v>0.746</c:v>
                </c:pt>
                <c:pt idx="2">
                  <c:v>0.932</c:v>
                </c:pt>
              </c:numCache>
            </c:numRef>
          </c:val>
        </c:ser>
        <c:dLbls>
          <c:numFmt formatCode="0.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DE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Share of actual sales inside the 90% range (target 0.90)</a:t>
            </a:r>
          </a:p>
        </c:rich>
      </c:tx>
      <c:layout/>
      <c:overlay val="0"/>
    </c:title>
    <c:autoTitleDeleted val="0"/>
    <c:plotArea>
      <c:layout/>
      <c:barChart>
        <c:barDir val="col"/>
        <c:grouping val="clustered"/>
        <c:varyColors val="0"/>
        <c:ser>
          <c:idx val="0"/>
          <c:order val="0"/>
          <c:tx>
            <c:strRef>
              <c:f>Sheet1!$B$1</c:f>
              <c:strCache>
                <c:ptCount val="1"/>
                <c:pt idx="0">
                  <c:v>Raw (calibration weeks)</c:v>
                </c:pt>
              </c:strCache>
            </c:strRef>
          </c:tx>
          <c:spPr>
            <a:solidFill>
              <a:srgbClr val="9AA5A6"/>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Days 1-7</c:v>
                  </c:pt>
                  <c:pt idx="1">
                    <c:v>Days 8-14</c:v>
                  </c:pt>
                  <c:pt idx="2">
                    <c:v>Days 15-21</c:v>
                  </c:pt>
                  <c:pt idx="3">
                    <c:v>Days 22-28</c:v>
                  </c:pt>
                </c:lvl>
              </c:multiLvlStrCache>
            </c:multiLvlStrRef>
          </c:cat>
          <c:val>
            <c:numRef>
              <c:f>Sheet1!$B$2:$B$5</c:f>
              <c:numCache>
                <c:formatCode>General</c:formatCode>
                <c:ptCount val="4"/>
                <c:pt idx="0">
                  <c:v>0.874</c:v>
                </c:pt>
                <c:pt idx="1">
                  <c:v>0.865</c:v>
                </c:pt>
                <c:pt idx="2">
                  <c:v>0.856</c:v>
                </c:pt>
                <c:pt idx="3">
                  <c:v>0.843</c:v>
                </c:pt>
              </c:numCache>
            </c:numRef>
          </c:val>
        </c:ser>
        <c:ser>
          <c:idx val="1"/>
          <c:order val="1"/>
          <c:tx>
            <c:strRef>
              <c:f>Sheet1!$C$1</c:f>
              <c:strCache>
                <c:ptCount val="1"/>
                <c:pt idx="0">
                  <c:v>Calibrated (validation)</c:v>
                </c:pt>
              </c:strCache>
            </c:strRef>
          </c:tx>
          <c:spPr>
            <a:solidFill>
              <a:srgbClr val="0F7173"/>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Days 1-7</c:v>
                  </c:pt>
                  <c:pt idx="1">
                    <c:v>Days 8-14</c:v>
                  </c:pt>
                  <c:pt idx="2">
                    <c:v>Days 15-21</c:v>
                  </c:pt>
                  <c:pt idx="3">
                    <c:v>Days 22-28</c:v>
                  </c:pt>
                </c:lvl>
              </c:multiLvlStrCache>
            </c:multiLvlStrRef>
          </c:cat>
          <c:val>
            <c:numRef>
              <c:f>Sheet1!$C$2:$C$5</c:f>
              <c:numCache>
                <c:formatCode>General</c:formatCode>
                <c:ptCount val="4"/>
                <c:pt idx="0">
                  <c:v>0.898</c:v>
                </c:pt>
                <c:pt idx="1">
                  <c:v>0.905</c:v>
                </c:pt>
                <c:pt idx="2">
                  <c:v>0.912</c:v>
                </c:pt>
                <c:pt idx="3">
                  <c:v>0.921</c:v>
                </c:pt>
              </c:numCache>
            </c:numRef>
          </c:val>
        </c:ser>
        <c:ser>
          <c:idx val="2"/>
          <c:order val="2"/>
          <c:tx>
            <c:strRef>
              <c:f>Sheet1!$D$1</c:f>
              <c:strCache>
                <c:ptCount val="1"/>
                <c:pt idx="0">
                  <c:v>Calibrated (holdout)</c:v>
                </c:pt>
              </c:strCache>
            </c:strRef>
          </c:tx>
          <c:spPr>
            <a:solidFill>
              <a:srgbClr val="E09F3E"/>
            </a:solidFill>
            <a:effectLst/>
          </c:spPr>
          <c:invertIfNegative val="0"/>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Days 1-7</c:v>
                  </c:pt>
                  <c:pt idx="1">
                    <c:v>Days 8-14</c:v>
                  </c:pt>
                  <c:pt idx="2">
                    <c:v>Days 15-21</c:v>
                  </c:pt>
                  <c:pt idx="3">
                    <c:v>Days 22-28</c:v>
                  </c:pt>
                </c:lvl>
              </c:multiLvlStrCache>
            </c:multiLvlStrRef>
          </c:cat>
          <c:val>
            <c:numRef>
              <c:f>Sheet1!$D$2:$D$5</c:f>
              <c:numCache>
                <c:formatCode>General</c:formatCode>
                <c:ptCount val="4"/>
                <c:pt idx="0">
                  <c:v>0.901</c:v>
                </c:pt>
                <c:pt idx="1">
                  <c:v>0.885</c:v>
                </c:pt>
                <c:pt idx="2">
                  <c:v>0.886</c:v>
                </c:pt>
                <c:pt idx="3">
                  <c:v>0.9</c:v>
                </c:pt>
              </c:numCache>
            </c:numRef>
          </c:val>
        </c:ser>
        <c:dLbls>
          <c:numFmt formatCode="0.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0.95"/>
          <c:min val="0.8"/>
        </c:scaling>
        <c:delete val="0"/>
        <c:axPos val="l"/>
        <c:majorGridlines>
          <c:spPr>
            <a:ln w="6350" cap="flat">
              <a:solidFill>
                <a:srgbClr val="D5DED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Share of next-7-day unit error captured by 5 picks, validation</a:t>
            </a:r>
          </a:p>
        </c:rich>
      </c:tx>
      <c:layout/>
      <c:overlay val="0"/>
    </c:title>
    <c:autoTitleDeleted val="0"/>
    <c:plotArea>
      <c:layout/>
      <c:barChart>
        <c:barDir val="bar"/>
        <c:grouping val="clustered"/>
        <c:varyColors val="0"/>
        <c:ser>
          <c:idx val="0"/>
          <c:order val="0"/>
          <c:tx>
            <c:strRef>
              <c:f>Sheet1!$B$1</c:f>
              <c:strCache>
                <c:ptCount val="1"/>
                <c:pt idx="0">
                  <c:v>Captured share, K=5</c:v>
                </c:pt>
              </c:strCache>
            </c:strRef>
          </c:tx>
          <c:spPr>
            <a:solidFill>
              <a:srgbClr val="0F7173"/>
            </a:solidFill>
            <a:effectLst/>
          </c:spPr>
          <c:invertIfNegative val="0"/>
          <c:dLbls>
            <c:numFmt formatCode="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dPt>
            <c:idx val="0"/>
            <c:invertIfNegative val="0"/>
            <c:bubble3D val="0"/>
            <c:spPr>
              <a:solidFill>
                <a:srgbClr val="0F7173"/>
              </a:solidFill>
              <a:effectLst/>
            </c:spPr>
          </c:dPt>
          <c:dPt>
            <c:idx val="1"/>
            <c:invertIfNegative val="0"/>
            <c:bubble3D val="0"/>
            <c:spPr>
              <a:solidFill>
                <a:srgbClr val="3D5A80"/>
              </a:solidFill>
              <a:effectLst/>
            </c:spPr>
          </c:dPt>
          <c:dPt>
            <c:idx val="2"/>
            <c:invertIfNegative val="0"/>
            <c:bubble3D val="0"/>
            <c:spPr>
              <a:solidFill>
                <a:srgbClr val="3D5A80"/>
              </a:solidFill>
              <a:effectLst/>
            </c:spPr>
          </c:dPt>
          <c:dPt>
            <c:idx val="3"/>
            <c:invertIfNegative val="0"/>
            <c:bubble3D val="0"/>
            <c:spPr>
              <a:solidFill>
                <a:srgbClr val="3D5A80"/>
              </a:solidFill>
              <a:effectLst/>
            </c:spPr>
          </c:dPt>
          <c:dPt>
            <c:idx val="4"/>
            <c:invertIfNegative val="0"/>
            <c:bubble3D val="0"/>
            <c:spPr>
              <a:solidFill>
                <a:srgbClr val="3D5A80"/>
              </a:solidFill>
              <a:effectLst/>
            </c:spPr>
          </c:dPt>
          <c:dPt>
            <c:idx val="5"/>
            <c:invertIfNegative val="0"/>
            <c:bubble3D val="0"/>
            <c:spPr>
              <a:solidFill>
                <a:srgbClr val="5B8E7D"/>
              </a:solidFill>
              <a:effectLst/>
            </c:spPr>
          </c:dPt>
          <c:dPt>
            <c:idx val="6"/>
            <c:invertIfNegative val="0"/>
            <c:bubble3D val="0"/>
            <c:spPr>
              <a:solidFill>
                <a:srgbClr val="9AA5A6"/>
              </a:solidFill>
              <a:effectLst/>
            </c:spPr>
          </c:dPt>
          <c:cat>
            <c:multiLvlStrRef>
              <c:f>Sheet1!$A$2:$A$8</c:f>
              <c:multiLvlStrCache>
                <c:ptCount val="7"/>
                <c:lvl>
                  <c:pt idx="0">
                    <c:v>Combined</c:v>
                  </c:pt>
                  <c:pt idx="1">
                    <c:v>Uncertainty</c:v>
                  </c:pt>
                  <c:pt idx="2">
                    <c:v>Recent error</c:v>
                  </c:pt>
                  <c:pt idx="3">
                    <c:v>Volume</c:v>
                  </c:pt>
                  <c:pt idx="4">
                    <c:v>Bias</c:v>
                  </c:pt>
                  <c:pt idx="5">
                    <c:v>Normalised error</c:v>
                  </c:pt>
                  <c:pt idx="6">
                    <c:v>Random</c:v>
                  </c:pt>
                </c:lvl>
              </c:multiLvlStrCache>
            </c:multiLvlStrRef>
          </c:cat>
          <c:val>
            <c:numRef>
              <c:f>Sheet1!$B$2:$B$8</c:f>
              <c:numCache>
                <c:formatCode>General</c:formatCode>
                <c:ptCount val="7"/>
                <c:pt idx="0">
                  <c:v>0.164</c:v>
                </c:pt>
                <c:pt idx="1">
                  <c:v>0.161</c:v>
                </c:pt>
                <c:pt idx="2">
                  <c:v>0.16</c:v>
                </c:pt>
                <c:pt idx="3">
                  <c:v>0.156</c:v>
                </c:pt>
                <c:pt idx="4">
                  <c:v>0.139</c:v>
                </c:pt>
                <c:pt idx="5">
                  <c:v>0.039</c:v>
                </c:pt>
                <c:pt idx="6">
                  <c:v>0.025</c:v>
                </c:pt>
              </c:numCache>
            </c:numRef>
          </c:val>
        </c:ser>
        <c:dLbls>
          <c:numFmt formatCode="0.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0.2"/>
          <c:min val="0"/>
        </c:scaling>
        <c:delete val="0"/>
        <c:axPos val="b"/>
        <c:majorGridlines>
          <c:spPr>
            <a:ln w="6350" cap="flat">
              <a:solidFill>
                <a:srgbClr val="D5DED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Captured share by holdout week, K=5</a:t>
            </a:r>
          </a:p>
        </c:rich>
      </c:tx>
      <c:layout/>
      <c:overlay val="0"/>
    </c:title>
    <c:autoTitleDeleted val="0"/>
    <c:plotArea>
      <c:layout/>
      <c:lineChart>
        <c:varyColors val="0"/>
        <c:ser>
          <c:idx val="0"/>
          <c:order val="0"/>
          <c:tx>
            <c:strRef>
              <c:f>Sheet1!$B$1</c:f>
              <c:strCache>
                <c:ptCount val="1"/>
                <c:pt idx="0">
                  <c:v>Combined</c:v>
                </c:pt>
              </c:strCache>
            </c:strRef>
          </c:tx>
          <c:spPr>
            <a:solidFill>
              <a:srgbClr val="0F7173"/>
            </a:solidFill>
            <a:ln w="38100" cap="flat">
              <a:solidFill>
                <a:srgbClr val="0F7173"/>
              </a:solidFill>
              <a:prstDash val="solid"/>
              <a:round/>
            </a:ln>
            <a:effectLst/>
          </c:spPr>
          <c:invertIfNegative val="0"/>
          <c:dLbls>
            <c:numFmt formatCode="#,##0"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showLeaderLines val="0"/>
          </c:dLbls>
          <c:marker>
            <c:symbol val="circle"/>
            <c:size val="8"/>
            <c:spPr>
              <a:solidFill>
                <a:srgbClr val="0F7173"/>
              </a:solidFill>
              <a:ln w="9525" cap="flat">
                <a:solidFill>
                  <a:srgbClr val="0F7173"/>
                </a:solidFill>
                <a:prstDash val="solid"/>
                <a:round/>
              </a:ln>
              <a:effectLst/>
            </c:spPr>
          </c:marker>
          <c:cat>
            <c:multiLvlStrRef>
              <c:f>Sheet1!$A$2:$A$5</c:f>
              <c:multiLvlStrCache>
                <c:ptCount val="4"/>
                <c:lvl>
                  <c:pt idx="0">
                    <c:v>Week of d1913</c:v>
                  </c:pt>
                  <c:pt idx="1">
                    <c:v>d1920</c:v>
                  </c:pt>
                  <c:pt idx="2">
                    <c:v>d1927</c:v>
                  </c:pt>
                  <c:pt idx="3">
                    <c:v>d1934</c:v>
                  </c:pt>
                </c:lvl>
              </c:multiLvlStrCache>
            </c:multiLvlStrRef>
          </c:cat>
          <c:val>
            <c:numRef>
              <c:f>Sheet1!$B$2:$B$5</c:f>
              <c:numCache>
                <c:formatCode>General</c:formatCode>
                <c:ptCount val="4"/>
                <c:pt idx="0">
                  <c:v>0.119</c:v>
                </c:pt>
                <c:pt idx="1">
                  <c:v>0.112</c:v>
                </c:pt>
                <c:pt idx="2">
                  <c:v>0.139</c:v>
                </c:pt>
                <c:pt idx="3">
                  <c:v>0.167</c:v>
                </c:pt>
              </c:numCache>
            </c:numRef>
          </c:val>
          <c:smooth val="0"/>
        </c:ser>
        <c:ser>
          <c:idx val="1"/>
          <c:order val="1"/>
          <c:tx>
            <c:strRef>
              <c:f>Sheet1!$C$1</c:f>
              <c:strCache>
                <c:ptCount val="1"/>
                <c:pt idx="0">
                  <c:v>Volume</c:v>
                </c:pt>
              </c:strCache>
            </c:strRef>
          </c:tx>
          <c:spPr>
            <a:solidFill>
              <a:srgbClr val="E09F3E"/>
            </a:solidFill>
            <a:ln w="38100" cap="flat">
              <a:solidFill>
                <a:srgbClr val="E09F3E"/>
              </a:solidFill>
              <a:prstDash val="solid"/>
              <a:round/>
            </a:ln>
            <a:effectLst/>
          </c:spPr>
          <c:invertIfNegative val="0"/>
          <c:dLbls>
            <c:numFmt formatCode="#,##0"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showLeaderLines val="0"/>
          </c:dLbls>
          <c:marker>
            <c:symbol val="circle"/>
            <c:size val="8"/>
            <c:spPr>
              <a:solidFill>
                <a:srgbClr val="E09F3E"/>
              </a:solidFill>
              <a:ln w="9525" cap="flat">
                <a:solidFill>
                  <a:srgbClr val="E09F3E"/>
                </a:solidFill>
                <a:prstDash val="solid"/>
                <a:round/>
              </a:ln>
              <a:effectLst/>
            </c:spPr>
          </c:marker>
          <c:cat>
            <c:multiLvlStrRef>
              <c:f>Sheet1!$A$2:$A$5</c:f>
              <c:multiLvlStrCache>
                <c:ptCount val="4"/>
                <c:lvl>
                  <c:pt idx="0">
                    <c:v>Week of d1913</c:v>
                  </c:pt>
                  <c:pt idx="1">
                    <c:v>d1920</c:v>
                  </c:pt>
                  <c:pt idx="2">
                    <c:v>d1927</c:v>
                  </c:pt>
                  <c:pt idx="3">
                    <c:v>d1934</c:v>
                  </c:pt>
                </c:lvl>
              </c:multiLvlStrCache>
            </c:multiLvlStrRef>
          </c:cat>
          <c:val>
            <c:numRef>
              <c:f>Sheet1!$C$2:$C$5</c:f>
              <c:numCache>
                <c:formatCode>General</c:formatCode>
                <c:ptCount val="4"/>
                <c:pt idx="0">
                  <c:v>0.119</c:v>
                </c:pt>
                <c:pt idx="1">
                  <c:v>0.098</c:v>
                </c:pt>
                <c:pt idx="2">
                  <c:v>0.139</c:v>
                </c:pt>
                <c:pt idx="3">
                  <c:v>0.163</c:v>
                </c:pt>
              </c:numCache>
            </c:numRef>
          </c:val>
          <c:smooth val="0"/>
        </c:ser>
        <c:ser>
          <c:idx val="2"/>
          <c:order val="2"/>
          <c:tx>
            <c:strRef>
              <c:f>Sheet1!$D$1</c:f>
              <c:strCache>
                <c:ptCount val="1"/>
                <c:pt idx="0">
                  <c:v>Recent error</c:v>
                </c:pt>
              </c:strCache>
            </c:strRef>
          </c:tx>
          <c:spPr>
            <a:solidFill>
              <a:srgbClr val="3D5A80"/>
            </a:solidFill>
            <a:ln w="38100" cap="flat">
              <a:solidFill>
                <a:srgbClr val="3D5A80"/>
              </a:solidFill>
              <a:prstDash val="solid"/>
              <a:round/>
            </a:ln>
            <a:effectLst/>
          </c:spPr>
          <c:invertIfNegative val="0"/>
          <c:dLbls>
            <c:numFmt formatCode="#,##0"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showLeaderLines val="0"/>
          </c:dLbls>
          <c:marker>
            <c:symbol val="circle"/>
            <c:size val="8"/>
            <c:spPr>
              <a:solidFill>
                <a:srgbClr val="3D5A80"/>
              </a:solidFill>
              <a:ln w="9525" cap="flat">
                <a:solidFill>
                  <a:srgbClr val="3D5A80"/>
                </a:solidFill>
                <a:prstDash val="solid"/>
                <a:round/>
              </a:ln>
              <a:effectLst/>
            </c:spPr>
          </c:marker>
          <c:cat>
            <c:multiLvlStrRef>
              <c:f>Sheet1!$A$2:$A$5</c:f>
              <c:multiLvlStrCache>
                <c:ptCount val="4"/>
                <c:lvl>
                  <c:pt idx="0">
                    <c:v>Week of d1913</c:v>
                  </c:pt>
                  <c:pt idx="1">
                    <c:v>d1920</c:v>
                  </c:pt>
                  <c:pt idx="2">
                    <c:v>d1927</c:v>
                  </c:pt>
                  <c:pt idx="3">
                    <c:v>d1934</c:v>
                  </c:pt>
                </c:lvl>
              </c:multiLvlStrCache>
            </c:multiLvlStrRef>
          </c:cat>
          <c:val>
            <c:numRef>
              <c:f>Sheet1!$D$2:$D$5</c:f>
              <c:numCache>
                <c:formatCode>General</c:formatCode>
                <c:ptCount val="4"/>
                <c:pt idx="0">
                  <c:v>0.121</c:v>
                </c:pt>
                <c:pt idx="1">
                  <c:v>0.116</c:v>
                </c:pt>
                <c:pt idx="2">
                  <c:v>0.132</c:v>
                </c:pt>
                <c:pt idx="3">
                  <c:v>0.142</c:v>
                </c:pt>
              </c:numCache>
            </c:numRef>
          </c:val>
          <c:smooth val="0"/>
        </c:ser>
        <c:dLbls>
          <c:numFmt formatCode="#,##0" sourceLinked="0"/>
          <c:txPr>
            <a:bodyPr/>
            <a:lstStyle/>
            <a:p>
              <a:pPr>
                <a:defRPr b="0" i="0" strike="noStrike" sz="1100" u="none">
                  <a:solidFill>
                    <a:srgbClr val="1B2A2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0.18"/>
          <c:min val="0.08"/>
        </c:scaling>
        <c:delete val="0"/>
        <c:axPos val="l"/>
        <c:majorGridlines>
          <c:spPr>
            <a:ln w="6350" cap="flat">
              <a:solidFill>
                <a:srgbClr val="D5DED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3B43"/>
                </a:solidFill>
                <a:latin typeface="+mj-lt"/>
              </a:defRPr>
            </a:pPr>
            <a:r>
              <a:rPr sz="1400" b="0" i="0" u="none" strike="noStrike">
                <a:solidFill>
                  <a:srgbClr val="0E3B43"/>
                </a:solidFill>
                <a:latin typeface="+mj-lt"/>
              </a:rPr>
              <a:t>Precision@5 for unusually large errors</a:t>
            </a:r>
          </a:p>
        </c:rich>
      </c:tx>
      <c:layout/>
      <c:overlay val="0"/>
    </c:title>
    <c:autoTitleDeleted val="0"/>
    <c:plotArea>
      <c:layout/>
      <c:barChart>
        <c:barDir val="col"/>
        <c:grouping val="clustered"/>
        <c:varyColors val="0"/>
        <c:ser>
          <c:idx val="0"/>
          <c:order val="0"/>
          <c:tx>
            <c:strRef>
              <c:f>Sheet1!$B$1</c:f>
              <c:strCache>
                <c:ptCount val="1"/>
                <c:pt idx="0">
                  <c:v>Validation</c:v>
                </c:pt>
              </c:strCache>
            </c:strRef>
          </c:tx>
          <c:spPr>
            <a:solidFill>
              <a:srgbClr val="0F7173"/>
            </a:solidFill>
            <a:effectLst/>
          </c:spPr>
          <c:invertIfNegative val="0"/>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Sheet1!$A$2:$A$7</c:f>
              <c:multiLvlStrCache>
                <c:ptCount val="6"/>
                <c:lvl>
                  <c:pt idx="0">
                    <c:v>Normalised error</c:v>
                  </c:pt>
                  <c:pt idx="1">
                    <c:v>Recent error</c:v>
                  </c:pt>
                  <c:pt idx="2">
                    <c:v>Bias</c:v>
                  </c:pt>
                  <c:pt idx="3">
                    <c:v>Combined</c:v>
                  </c:pt>
                  <c:pt idx="4">
                    <c:v>Volume</c:v>
                  </c:pt>
                  <c:pt idx="5">
                    <c:v>Random</c:v>
                  </c:pt>
                </c:lvl>
              </c:multiLvlStrCache>
            </c:multiLvlStrRef>
          </c:cat>
          <c:val>
            <c:numRef>
              <c:f>Sheet1!$B$2:$B$7</c:f>
              <c:numCache>
                <c:formatCode>General</c:formatCode>
                <c:ptCount val="6"/>
                <c:pt idx="0">
                  <c:v>0.6</c:v>
                </c:pt>
                <c:pt idx="1">
                  <c:v>0.12</c:v>
                </c:pt>
                <c:pt idx="2">
                  <c:v>0.131</c:v>
                </c:pt>
                <c:pt idx="3">
                  <c:v>0.097</c:v>
                </c:pt>
                <c:pt idx="4">
                  <c:v>0.086</c:v>
                </c:pt>
                <c:pt idx="5">
                  <c:v>0.09</c:v>
                </c:pt>
              </c:numCache>
            </c:numRef>
          </c:val>
        </c:ser>
        <c:ser>
          <c:idx val="1"/>
          <c:order val="1"/>
          <c:tx>
            <c:strRef>
              <c:f>Sheet1!$C$1</c:f>
              <c:strCache>
                <c:ptCount val="1"/>
                <c:pt idx="0">
                  <c:v>Holdout</c:v>
                </c:pt>
              </c:strCache>
            </c:strRef>
          </c:tx>
          <c:spPr>
            <a:solidFill>
              <a:srgbClr val="E09F3E"/>
            </a:solidFill>
            <a:effectLst/>
          </c:spPr>
          <c:invertIfNegative val="0"/>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Sheet1!$A$2:$A$7</c:f>
              <c:multiLvlStrCache>
                <c:ptCount val="6"/>
                <c:lvl>
                  <c:pt idx="0">
                    <c:v>Normalised error</c:v>
                  </c:pt>
                  <c:pt idx="1">
                    <c:v>Recent error</c:v>
                  </c:pt>
                  <c:pt idx="2">
                    <c:v>Bias</c:v>
                  </c:pt>
                  <c:pt idx="3">
                    <c:v>Combined</c:v>
                  </c:pt>
                  <c:pt idx="4">
                    <c:v>Volume</c:v>
                  </c:pt>
                  <c:pt idx="5">
                    <c:v>Random</c:v>
                  </c:pt>
                </c:lvl>
              </c:multiLvlStrCache>
            </c:multiLvlStrRef>
          </c:cat>
          <c:val>
            <c:numRef>
              <c:f>Sheet1!$C$2:$C$7</c:f>
              <c:numCache>
                <c:formatCode>General</c:formatCode>
                <c:ptCount val="6"/>
                <c:pt idx="0">
                  <c:v>0.6</c:v>
                </c:pt>
                <c:pt idx="1">
                  <c:v>0.25</c:v>
                </c:pt>
                <c:pt idx="2">
                  <c:v>0.25</c:v>
                </c:pt>
                <c:pt idx="3">
                  <c:v>0.15</c:v>
                </c:pt>
                <c:pt idx="4">
                  <c:v>0.1</c:v>
                </c:pt>
                <c:pt idx="5">
                  <c:v>0.103</c:v>
                </c:pt>
              </c:numCache>
            </c:numRef>
          </c:val>
        </c:ser>
        <c:dLbls>
          <c:numFmt formatCode="0%"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E"/>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5DED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whole project end to end: the business question, the data, how SQL and Python were used, every forecasting and prioritisation method we tested, the results on validation and on the final untouched holdout, what went wrong and how it was fixed, what we did not test, and recommendations. It is an independent study on public data, not work done for Walmart, and no savings or deployment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findings. First, LightGBM is the most accurate of the three forecast methods on the untouched final 28 days, but only slightly better than ETS, and all methods under-forecast in that period. Second, our 90% forecast ranges contained the actual value 89% of the time in the holdout, close to target. Third, any sensible weekly review list captures about five times more forecast error than random picks, but our combined score did not clearly beat the simple rules of checking top sellers or the worst recent forecasts. The practical recommendation is to start with the simple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framing comes from PROJECT_SPEC.md. A planner has limited time each week. Two questions: can the forecasts be trusted, and which five product-store series should be looked at first. Five is a workload assumption; we also test capacities of 1 and 10. We only measure where forecast error concentrates; we have no data on whether a planner would correct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M5 is the public Walmart dataset from the 2020 Kaggle forecasting competition, downloaded from the Zenodo mirror with checksums verified. The panel was chosen using only the first 730 days, stratified by early sales volume and share of zero-sales days, 100 food and household series in each of two stores. Products with fewer than 100 early units or 100 selling days were excluded, so sparse and newly launched items are not represented. The pilot of 30 series was used first to test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in DuckDB from the full raw M5 sales file: 59 million series-days. Food is two-thirds of units, and one department, FOODS_3, is half of everything. Sales are very concentrated: the top 10% of product-store series sell 55% of units. Most products are intermittent: a typical series sells nothing on 60% of days after launch, which is why percentage-error metrics like MAPE break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from the full M5 file. Weekends run about 20% above the weekly average. On SNAP food-assistance payment days, FOODS sells more, most of all in Wisconsin; household goods barely move. That is an association, not a measured causal effect. Christmas is effectively a closed day. These patterns are why the models use weekday, SNAP and event features of the forecast day, which are known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explains the pipeline from raw files to results, what SQL and Python each did, and the time rules that prevent the forecasts from seeing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box is a script in the repository. Data preparation was supplied and re-verified. DuckDB SQL builds and audits the model input and later recomputes metrics independently. Python does the forecasting and the priority experiment. Every stage writes results to files and a PROGRESS.md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run log. Steps 1 to 8 and 10 to 12 ran in the Claude workspace (DuckDB command-line program, Python 3.13, LightGBM 4.6.0). Step 9 ran on your laptop. Step 10 first crashed on your laptop, was fixed, then rerun. The backtest in step 7 is the only slow step, about 27 minutes for 60 weekly LightGBM refits; its results are saved so it never needs rerunning.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inventory of the environment. The Claude workspace could not reach the Python package index, so LightGBM came from its official GitHub release and DuckDB ran as its official command-line program. statsmodels could not be installed, so ETS was written by hand in numpy and checked with a toy test. scipy and scikit-learn are listed in requirements.txt but the final code never imports them, so they can be removed. Your laptop ran the priority step with duckdb 1.5.6 and its own pandas 2.x.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part of sql/01_load_audit.sql. It casts day labels such as d_123 to integers, joins sales to the calendar and to weekly prices, and reshapes the wide file into long format so it can be compared cell by cell with the long file. The join keeps the same-week price, but Python never uses it directly as a forecast input: it lags price to the last completed week before each forecast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is one SQL statement that computes every check at once; scripts/checkpoint1_verify.py then compares each value to the supplied audit_summary.json. All 26 checks passed for both the 200-series panel and the 30-series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holdout, sql/02_analytics.sql reads the saved forecast files and recomputes WAPE, bias and mean RMSSE by model and segment, plus the priority-list summaries, completely separately from Python. scripts/reconcile.py compares the two: 60 forecast-metric rows and 36 priority rows, zero differences above one in a million. Guard queries also confirm validation rows never reach into the holdout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show which days each stage uses. Forecasts are made at weekly "origins" (always a Sunday). Choices were made only on earlier windows: LightGBM tuning on three origins, model choice on six later origins, interval width and event threshold on the calibration weeks, priority weights on the validation weeks. The last 28 days were sealed in code (set to missing) until all choices were frozen in config/frozen_choices.json with a SHA-256 fingerprint, then used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tests/test_temporal.py runs these on the pilot. The most important is the scramble test: replacing all future sales and future prices with random numbers must leave every feature unchanged. The near-end test was added after the holdout crash. Separately, one RMSSE and one WAPE were recomputed by hand and matched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the three forecasting methods, how they were tuned, and how they compare overall, over time, by segment, and on the final holdout. It also covers the forecast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Seasonal naive is the benchmark every method must beat. ETS is a classic exponential smoothing model: a level plus a weekly pattern updated by each new day, with smoothing strengths chosen per series by grid search and the seasonal or non-seasonal version picked by AIC. LightGBM is one gradient-boosted tree model trained across all 200 series; it predicts each of the 28 days ahead directly using features known at the forecast date. All forecasts are clipped at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LightGBM settings were tried, on tuning origins 1661, 1689 and 1717, whose forecast days end before validation starts. Fixed number of trees, no early stopping, so no validation data leaked into tuning. The 63-leaf Tweedie setting won narrowly and was frozen. ETS and naive shown for reference on the same origins.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non-overlapping 28-day validation periods, origins 1745 to 1885, 200 series. RMSSE compares squared error to the series' own day-to-day variability, so 1.0 would be as bad as a naive one-day change. WAPE is total absolute error over total sales. Bias is total forecast minus actual over actual; negative means under-forecast. LightGBM had the lowest RMSSE and WAPE but the most negative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LightGBM, ETS, naive held in all six validation periods. Error rises in the last two periods for every method, which suggests that period was harder rather than a model breaking.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were defined from the first 730 days only. LightGBM leads in high and medium volume and in frequent sellers, but on low-volume series it is essentially tied with ETS (0.595 vs 0.598). Lower RMSSE on low-volume series does not mean they are easy in business terms; RMSSE is scaled by each series' own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untouched final 28 days, 25 April to 22 May 2016, forecast once from d1913 with all choices frozen. LightGBM is still lowest in every segment but by 0.002 to 0.025 RMSSE. All models under-forecast, most of all on low-volume items (LightGBM -15%), so the period had higher sales than recent history suggested. The holdout first crashed on your laptop; after the fix it was rerun here. LightGBM forecasts differed slightly between the two machines (RMSSE 0.7339 vs 0.7333).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Ranges are built from each series' past out-of-sample errors (last 26 weeks, by horizon week), taking the 5th and 95th percentile. Raw ranges were too narrow on the calibration weeks (84-87%), so each horizon week got a width multiplier (1.05, 1.10, 1.10, 1.15) fixed on calibration weeks only. Validation coverage then reached 90.9%, holdout 89.3%. Weakest holdout segments: irregular sellers 87.7%, FOODS 88.1%.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explains the ranking rules, how lists were scored, and what happened on validation weeks and the four holdout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Sunday each rule ranks the 200 series using only information known that day. The signals come from earlier forecasts' real errors, never from model fit. A list is scored on the next 7 days only, so consecutive weeks never share outcomes. The combined score adds three signals after dividing each by its weekly median; weights were picked from 66 combinations x 2 normalisations on validation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K = 5, the combined score captured 16.4% of next-week error, versus 16.1% for uncertainty alone, 16.0% recent error and 15.6% volume, and 2.5% random. It beat recent error in only 18 of 35 weeks (9 ties). The pre-registered split check (choose weights on the first half, score on the second) passed by 0.06 percentage points. These weights were picked on these same weeks, so this number flatters the combined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Frozen rules applied to the four holdout weeks. The combined score captured 13.4%, volume 13.0%, recent error 12.8%. It led in 2 of 4 weeks. With only four weeks and 15-25 large-error events per week, these differences are within noise. Per the pre-registered rule the combined score was the formal pick, but the honest reading is that it has not shown an advantage over the simpler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finding of the priority experiment. Ranking by error in units mostly selects big sellers: their precision for unusually bad forecasts is about the same as random. Ranking by error relative to each series' normal variability finds unusual forecasts 60% of the time, but captures little unit error. A planner should decide which goal matters: biggest unit exposure, or forecasts that are broken for that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about credibility: the problems found and fixed, the paths we did not explore, and the data we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is recorded in PROGRESS.md with evidence. The ETS bug was caught by a test before it affected results. The holdout crash affected only weekly origins after d1913 and was fixed without changing frozen choices. The environment limits are why ETS is hand-written and why the dashboard was never run in the cloud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test every possible approach. We tested a defined, pre-specified set and kept tuning limited on purpose, because every extra option tried on the same data makes the winner look better than it really is. The right column is a candidate list for future work; any of these now needs fresh data to evaluate, because the holdout has been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limits belong in the memo and in any interview answer. The biggest is that we cannot measure business value: there is no inventory, cost or planner data, so a high captured share is not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last section covers recommendations for a planner, improvements to the project, the Power BI dashboard plan, and remaining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recommendations are based only on what was measured. Project improvements are ordered by value for effort. Remember that the holdout is spent: any new method can only be evaluated on validation weeks, so results must be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as a Power BI project (.pbip) by powerbi/build_pbip.py, with no manual clicking: a data model of 23 tables, 8 relationships and 35 DAX measures, and a report of 10 pages with 69 visuals. All report files pass Microsoft's official schemas. It was opened and refreshed in Power BI Desktop and every page inspected; the first open found a measure/column name clash, which was fixed, and the layout was redesigned onto a fixed grid after review. The review-list page shows only what a planner knew that week; outcomes live on the retrospective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at the time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interview message: the value of this project is the process. Leakage-proof evaluation, simple baselines, a frozen holdout, independent SQL reconciliation, and a willingness to report that the extra complexity did not pay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3B4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794760"/>
            <a:ext cx="10698480" cy="1463040"/>
          </a:xfrm>
          <a:prstGeom prst="rect">
            <a:avLst/>
          </a:prstGeom>
          <a:noFill/>
          <a:ln/>
        </p:spPr>
        <p:txBody>
          <a:bodyPr wrap="square" rtlCol="0"/>
          <a:lstStyle>
            <a:lvl1pPr indent="0" marL="0">
              <a:buNone/>
              <a:defRPr lang="en-US" sz="1800" dirty="0">
                <a:solidFill>
                  <a:srgbClr val="CFE3E3"/>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717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703320"/>
            <a:ext cx="10698480" cy="1097280"/>
          </a:xfrm>
          <a:prstGeom prst="rect">
            <a:avLst/>
          </a:prstGeom>
          <a:noFill/>
          <a:ln/>
        </p:spPr>
        <p:txBody>
          <a:bodyPr wrap="square" rtlCol="0"/>
          <a:lstStyle>
            <a:lvl1pPr indent="0" marL="0">
              <a:buNone/>
              <a:defRPr lang="en-US" sz="1800" dirty="0">
                <a:solidFill>
                  <a:srgbClr val="E3F1F1"/>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E3F1F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382512"/>
            <a:ext cx="9601200" cy="274320"/>
          </a:xfrm>
          <a:prstGeom prst="rect">
            <a:avLst/>
          </a:prstGeom>
          <a:noFill/>
          <a:ln/>
        </p:spPr>
        <p:txBody>
          <a:bodyPr wrap="square" lIns="0" tIns="0" rIns="0" bIns="0" rtlCol="0" anchor="ctr"/>
          <a:lstStyle/>
          <a:p>
            <a:pPr indent="0" marL="0">
              <a:buNone/>
            </a:pPr>
            <a:r>
              <a:rPr lang="en-US" sz="1000" dirty="0">
                <a:solidFill>
                  <a:srgbClr val="5E6B6E"/>
                </a:solidFill>
              </a:rPr>
              <a:t>Independent study on public M5 (Kaggle/Zenodo) data. Not Walmart work; no deployment or savings claimed.</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E3F1F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Walmart Demand Planning: Forecast Reliability and Weekly Review Priorities</a:t>
            </a:r>
            <a:endParaRPr lang="en-US" sz="4000" dirty="0"/>
          </a:p>
        </p:txBody>
      </p:sp>
      <p:sp>
        <p:nvSpPr>
          <p:cNvPr id="3" name="Text 0"/>
          <p:cNvSpPr/>
          <p:nvPr>
            <p:ph idx="101" type="body" hasCustomPrompt="1"/>
          </p:nvPr>
        </p:nvSpPr>
        <p:spPr>
          <a:xfrm>
            <a:off x="731520" y="3794760"/>
            <a:ext cx="10698480" cy="1463040"/>
          </a:xfrm>
          <a:prstGeom prst="rect">
            <a:avLst/>
          </a:prstGeom>
          <a:noFill/>
          <a:ln/>
        </p:spPr>
        <p:txBody>
          <a:bodyPr wrap="square" lIns="0" tIns="0" rIns="0" bIns="0" rtlCol="0" anchor="t"/>
          <a:lstStyle/>
          <a:p>
            <a:pPr indent="0" marL="0">
              <a:buNone/>
            </a:pPr>
            <a:r>
              <a:rPr lang="en-US" sz="1800" dirty="0">
                <a:solidFill>
                  <a:srgbClr val="CFE3E3"/>
                </a:solidFill>
                <a:latin typeface="Calibri" pitchFamily="34" charset="0"/>
                <a:ea typeface="Calibri" pitchFamily="34" charset="-122"/>
                <a:cs typeface="Calibri" pitchFamily="34" charset="-120"/>
              </a:rPr>
              <a:t>Project review: methods, SQL and Python work, results, failures and next steps</a:t>
            </a:r>
            <a:endParaRPr lang="en-US" sz="1800" dirty="0"/>
          </a:p>
          <a:p>
            <a:pPr indent="0" marL="0">
              <a:buNone/>
            </a:pPr>
            <a:r>
              <a:rPr lang="en-US" sz="1800" dirty="0">
                <a:solidFill>
                  <a:srgbClr val="CFE3E3"/>
                </a:solidFill>
                <a:latin typeface="Calibri" pitchFamily="34" charset="0"/>
                <a:ea typeface="Calibri" pitchFamily="34" charset="-122"/>
                <a:cs typeface="Calibri" pitchFamily="34" charset="-120"/>
              </a:rPr>
              <a:t>Independent historical study on public M5 data (200 product-store series, 2011-2016)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short answer</a:t>
            </a:r>
            <a:endParaRPr lang="en-US" sz="3200" dirty="0"/>
          </a:p>
        </p:txBody>
      </p:sp>
      <p:sp>
        <p:nvSpPr>
          <p:cNvPr id="4" name="Text 1"/>
          <p:cNvSpPr txBox="1"/>
          <p:nvPr/>
        </p:nvSpPr>
        <p:spPr>
          <a:xfrm>
            <a:off x="548640" y="1371600"/>
            <a:ext cx="3566160" cy="868680"/>
          </a:xfrm>
          <a:prstGeom prst="rect">
            <a:avLst/>
          </a:prstGeom>
          <a:noFill/>
          <a:ln/>
        </p:spPr>
        <p:txBody>
          <a:bodyPr wrap="square" lIns="0" tIns="0" rIns="0" bIns="0" rtlCol="0" anchor="b"/>
          <a:lstStyle/>
          <a:p>
            <a:pPr indent="0" marL="0">
              <a:buNone/>
            </a:pPr>
            <a:r>
              <a:rPr lang="en-US" sz="4400" b="1" dirty="0">
                <a:solidFill>
                  <a:srgbClr val="0F7173"/>
                </a:solidFill>
                <a:latin typeface="Cambria" pitchFamily="34" charset="0"/>
                <a:ea typeface="Cambria" pitchFamily="34" charset="-122"/>
                <a:cs typeface="Cambria" pitchFamily="34" charset="-120"/>
              </a:rPr>
              <a:t>0.733</a:t>
            </a:r>
            <a:endParaRPr lang="en-US" sz="4400" dirty="0"/>
          </a:p>
        </p:txBody>
      </p:sp>
      <p:sp>
        <p:nvSpPr>
          <p:cNvPr id="5" name="Text 2"/>
          <p:cNvSpPr txBox="1"/>
          <p:nvPr/>
        </p:nvSpPr>
        <p:spPr>
          <a:xfrm>
            <a:off x="548640" y="2286000"/>
            <a:ext cx="3566160" cy="822960"/>
          </a:xfrm>
          <a:prstGeom prst="rect">
            <a:avLst/>
          </a:prstGeom>
          <a:noFill/>
          <a:ln/>
        </p:spPr>
        <p:txBody>
          <a:bodyPr wrap="square" lIns="0" tIns="0" rIns="0" bIns="0" rtlCol="0" anchor="t"/>
          <a:lstStyle/>
          <a:p>
            <a:pPr indent="0" marL="0">
              <a:buNone/>
            </a:pPr>
            <a:r>
              <a:rPr lang="en-US" sz="1400" dirty="0">
                <a:solidFill>
                  <a:srgbClr val="5E6B6E"/>
                </a:solidFill>
              </a:rPr>
              <a:t>LightGBM mean RMSSE on the final 28 days</a:t>
            </a:r>
            <a:endParaRPr lang="en-US" sz="1400" dirty="0"/>
          </a:p>
          <a:p>
            <a:pPr indent="0" marL="0">
              <a:buNone/>
            </a:pPr>
            <a:r>
              <a:rPr lang="en-US" sz="1400" dirty="0">
                <a:solidFill>
                  <a:srgbClr val="5E6B6E"/>
                </a:solidFill>
              </a:rPr>
              <a:t>(ETS 0.746, "same as last week" 0.932)</a:t>
            </a:r>
            <a:endParaRPr lang="en-US" sz="1400" dirty="0"/>
          </a:p>
        </p:txBody>
      </p:sp>
      <p:sp>
        <p:nvSpPr>
          <p:cNvPr id="6" name="Text 3"/>
          <p:cNvSpPr txBox="1"/>
          <p:nvPr/>
        </p:nvSpPr>
        <p:spPr>
          <a:xfrm>
            <a:off x="4343400" y="1371600"/>
            <a:ext cx="3566160" cy="868680"/>
          </a:xfrm>
          <a:prstGeom prst="rect">
            <a:avLst/>
          </a:prstGeom>
          <a:noFill/>
          <a:ln/>
        </p:spPr>
        <p:txBody>
          <a:bodyPr wrap="square" lIns="0" tIns="0" rIns="0" bIns="0" rtlCol="0" anchor="b"/>
          <a:lstStyle/>
          <a:p>
            <a:pPr indent="0" marL="0">
              <a:buNone/>
            </a:pPr>
            <a:r>
              <a:rPr lang="en-US" sz="4400" b="1" dirty="0">
                <a:solidFill>
                  <a:srgbClr val="5B8E7D"/>
                </a:solidFill>
                <a:latin typeface="Cambria" pitchFamily="34" charset="0"/>
                <a:ea typeface="Cambria" pitchFamily="34" charset="-122"/>
                <a:cs typeface="Cambria" pitchFamily="34" charset="-120"/>
              </a:rPr>
              <a:t>89%</a:t>
            </a:r>
            <a:endParaRPr lang="en-US" sz="4400" dirty="0"/>
          </a:p>
        </p:txBody>
      </p:sp>
      <p:sp>
        <p:nvSpPr>
          <p:cNvPr id="7" name="Text 4"/>
          <p:cNvSpPr txBox="1"/>
          <p:nvPr/>
        </p:nvSpPr>
        <p:spPr>
          <a:xfrm>
            <a:off x="4343400" y="2286000"/>
            <a:ext cx="3566160" cy="822960"/>
          </a:xfrm>
          <a:prstGeom prst="rect">
            <a:avLst/>
          </a:prstGeom>
          <a:noFill/>
          <a:ln/>
        </p:spPr>
        <p:txBody>
          <a:bodyPr wrap="square" lIns="0" tIns="0" rIns="0" bIns="0" rtlCol="0" anchor="t"/>
          <a:lstStyle/>
          <a:p>
            <a:pPr indent="0" marL="0">
              <a:buNone/>
            </a:pPr>
            <a:r>
              <a:rPr lang="en-US" sz="1400" dirty="0">
                <a:solidFill>
                  <a:srgbClr val="5E6B6E"/>
                </a:solidFill>
              </a:rPr>
              <a:t>of actual daily sales fell inside the 90% forecast range on the final 28 days</a:t>
            </a:r>
            <a:endParaRPr lang="en-US" sz="1400" dirty="0"/>
          </a:p>
        </p:txBody>
      </p:sp>
      <p:sp>
        <p:nvSpPr>
          <p:cNvPr id="8" name="Text 5"/>
          <p:cNvSpPr txBox="1"/>
          <p:nvPr/>
        </p:nvSpPr>
        <p:spPr>
          <a:xfrm>
            <a:off x="8138160" y="1371600"/>
            <a:ext cx="3566160" cy="868680"/>
          </a:xfrm>
          <a:prstGeom prst="rect">
            <a:avLst/>
          </a:prstGeom>
          <a:noFill/>
          <a:ln/>
        </p:spPr>
        <p:txBody>
          <a:bodyPr wrap="square" lIns="0" tIns="0" rIns="0" bIns="0" rtlCol="0" anchor="b"/>
          <a:lstStyle/>
          <a:p>
            <a:pPr indent="0" marL="0">
              <a:buNone/>
            </a:pPr>
            <a:r>
              <a:rPr lang="en-US" sz="4400" b="1" dirty="0">
                <a:solidFill>
                  <a:srgbClr val="E09F3E"/>
                </a:solidFill>
                <a:latin typeface="Cambria" pitchFamily="34" charset="0"/>
                <a:ea typeface="Cambria" pitchFamily="34" charset="-122"/>
                <a:cs typeface="Cambria" pitchFamily="34" charset="-120"/>
              </a:rPr>
              <a:t>~5x</a:t>
            </a:r>
            <a:endParaRPr lang="en-US" sz="4400" dirty="0"/>
          </a:p>
        </p:txBody>
      </p:sp>
      <p:sp>
        <p:nvSpPr>
          <p:cNvPr id="9" name="Text 6"/>
          <p:cNvSpPr txBox="1"/>
          <p:nvPr/>
        </p:nvSpPr>
        <p:spPr>
          <a:xfrm>
            <a:off x="8138160" y="2286000"/>
            <a:ext cx="3566160" cy="822960"/>
          </a:xfrm>
          <a:prstGeom prst="rect">
            <a:avLst/>
          </a:prstGeom>
          <a:noFill/>
          <a:ln/>
        </p:spPr>
        <p:txBody>
          <a:bodyPr wrap="square" lIns="0" tIns="0" rIns="0" bIns="0" rtlCol="0" anchor="t"/>
          <a:lstStyle/>
          <a:p>
            <a:pPr indent="0" marL="0">
              <a:buNone/>
            </a:pPr>
            <a:r>
              <a:rPr lang="en-US" sz="1400" dirty="0">
                <a:solidFill>
                  <a:srgbClr val="5E6B6E"/>
                </a:solidFill>
              </a:rPr>
              <a:t>more next-week error captured by a 5-item review list than by random picks (13.4% vs 2.5%)</a:t>
            </a:r>
            <a:endParaRPr lang="en-US" sz="1400" dirty="0"/>
          </a:p>
        </p:txBody>
      </p:sp>
      <p:sp>
        <p:nvSpPr>
          <p:cNvPr id="10" name="card What this means for a planner"/>
          <p:cNvSpPr/>
          <p:nvPr/>
        </p:nvSpPr>
        <p:spPr>
          <a:xfrm>
            <a:off x="548640" y="3886200"/>
            <a:ext cx="11064240" cy="2148840"/>
          </a:xfrm>
          <a:prstGeom prst="roundRect">
            <a:avLst>
              <a:gd name="adj" fmla="val 3404"/>
            </a:avLst>
          </a:prstGeom>
          <a:solidFill>
            <a:srgbClr val="EEF3F3"/>
          </a:solidFill>
          <a:ln w="12700">
            <a:solidFill>
              <a:srgbClr val="EEF3F3"/>
            </a:solidFill>
            <a:prstDash val="solid"/>
          </a:ln>
        </p:spPr>
      </p:sp>
      <p:sp>
        <p:nvSpPr>
          <p:cNvPr id="11" name="Text 8"/>
          <p:cNvSpPr txBox="1"/>
          <p:nvPr/>
        </p:nvSpPr>
        <p:spPr>
          <a:xfrm>
            <a:off x="749808" y="4032504"/>
            <a:ext cx="1066190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What this means for a planner</a:t>
            </a:r>
            <a:endParaRPr lang="en-US" sz="1700" dirty="0"/>
          </a:p>
        </p:txBody>
      </p:sp>
      <p:sp>
        <p:nvSpPr>
          <p:cNvPr id="12" name="Text 9"/>
          <p:cNvSpPr txBox="1"/>
          <p:nvPr/>
        </p:nvSpPr>
        <p:spPr>
          <a:xfrm>
            <a:off x="749808" y="4453128"/>
            <a:ext cx="10661904" cy="14630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LightGBM is the best forecast here, but ETS is close, about 500x faster and less biased, so it is a credible fallback. For the weekly 5-item review list, the combined score (16.4% captured on validation, 13.4% on holdout) was within noise of "check the top sellers" (15.6% / 13.0%) and "check the worst recent forecasts" (16.0% / 12.8%). Recommend the simpler rule. A list that captures error does not prove a planner can fix it.</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business question</a:t>
            </a:r>
            <a:endParaRPr lang="en-US" sz="3200" dirty="0"/>
          </a:p>
        </p:txBody>
      </p:sp>
      <p:sp>
        <p:nvSpPr>
          <p:cNvPr id="4" name="card 1. Which forecasts are dependable?"/>
          <p:cNvSpPr/>
          <p:nvPr/>
        </p:nvSpPr>
        <p:spPr>
          <a:xfrm>
            <a:off x="548640" y="1371600"/>
            <a:ext cx="5394960" cy="2194560"/>
          </a:xfrm>
          <a:prstGeom prst="roundRect">
            <a:avLst>
              <a:gd name="adj" fmla="val 3333"/>
            </a:avLst>
          </a:prstGeom>
          <a:solidFill>
            <a:srgbClr val="EEF3F3"/>
          </a:solidFill>
          <a:ln w="12700">
            <a:solidFill>
              <a:srgbClr val="EEF3F3"/>
            </a:solidFill>
            <a:prstDash val="solid"/>
          </a:ln>
        </p:spPr>
      </p:sp>
      <p:sp>
        <p:nvSpPr>
          <p:cNvPr id="5" name="Text 2"/>
          <p:cNvSpPr txBox="1"/>
          <p:nvPr/>
        </p:nvSpPr>
        <p:spPr>
          <a:xfrm>
            <a:off x="749808" y="1517904"/>
            <a:ext cx="49926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1. Which forecasts are dependable?</a:t>
            </a:r>
            <a:endParaRPr lang="en-US" sz="1700" dirty="0"/>
          </a:p>
        </p:txBody>
      </p:sp>
      <p:sp>
        <p:nvSpPr>
          <p:cNvPr id="6" name="Text 3"/>
          <p:cNvSpPr txBox="1"/>
          <p:nvPr/>
        </p:nvSpPr>
        <p:spPr>
          <a:xfrm>
            <a:off x="749808" y="1938528"/>
            <a:ext cx="4992624" cy="150876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Compare three forecasting methods on 28-day-ahead daily forecasts. Measure accuracy (RMSSE, WAPE), bias, and how often 90% forecast ranges contain the actual value, overall and by segment.</a:t>
            </a:r>
            <a:endParaRPr lang="en-US" sz="1400" dirty="0"/>
          </a:p>
        </p:txBody>
      </p:sp>
      <p:sp>
        <p:nvSpPr>
          <p:cNvPr id="7" name="card 2. Which 5 series to review this week?"/>
          <p:cNvSpPr/>
          <p:nvPr/>
        </p:nvSpPr>
        <p:spPr>
          <a:xfrm>
            <a:off x="6217920" y="1371600"/>
            <a:ext cx="5394960" cy="2194560"/>
          </a:xfrm>
          <a:prstGeom prst="roundRect">
            <a:avLst>
              <a:gd name="adj" fmla="val 3333"/>
            </a:avLst>
          </a:prstGeom>
          <a:solidFill>
            <a:srgbClr val="EEF3F3"/>
          </a:solidFill>
          <a:ln w="12700">
            <a:solidFill>
              <a:srgbClr val="EEF3F3"/>
            </a:solidFill>
            <a:prstDash val="solid"/>
          </a:ln>
        </p:spPr>
      </p:sp>
      <p:sp>
        <p:nvSpPr>
          <p:cNvPr id="8" name="Text 5"/>
          <p:cNvSpPr txBox="1"/>
          <p:nvPr/>
        </p:nvSpPr>
        <p:spPr>
          <a:xfrm>
            <a:off x="6419088" y="1517904"/>
            <a:ext cx="49926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2. Which 5 series to review this week?</a:t>
            </a:r>
            <a:endParaRPr lang="en-US" sz="1700" dirty="0"/>
          </a:p>
        </p:txBody>
      </p:sp>
      <p:sp>
        <p:nvSpPr>
          <p:cNvPr id="9" name="Text 6"/>
          <p:cNvSpPr txBox="1"/>
          <p:nvPr/>
        </p:nvSpPr>
        <p:spPr>
          <a:xfrm>
            <a:off x="6419088" y="1938528"/>
            <a:ext cx="4992624" cy="150876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Rank 200 series every week using only information known that day. Score each list on how much of the next 7 days' forecast error it captures. Test capacities K = 1, 5 and 10.</a:t>
            </a:r>
            <a:endParaRPr lang="en-US" sz="1400" dirty="0"/>
          </a:p>
        </p:txBody>
      </p:sp>
      <p:sp>
        <p:nvSpPr>
          <p:cNvPr id="10" name="card What this project does NOT claim"/>
          <p:cNvSpPr/>
          <p:nvPr/>
        </p:nvSpPr>
        <p:spPr>
          <a:xfrm>
            <a:off x="548640" y="3840480"/>
            <a:ext cx="11064240" cy="2194560"/>
          </a:xfrm>
          <a:prstGeom prst="roundRect">
            <a:avLst>
              <a:gd name="adj" fmla="val 3333"/>
            </a:avLst>
          </a:prstGeom>
          <a:solidFill>
            <a:srgbClr val="FBF1E3"/>
          </a:solidFill>
          <a:ln w="12700">
            <a:solidFill>
              <a:srgbClr val="FBF1E3"/>
            </a:solidFill>
            <a:prstDash val="solid"/>
          </a:ln>
        </p:spPr>
      </p:sp>
      <p:sp>
        <p:nvSpPr>
          <p:cNvPr id="11" name="Text 8"/>
          <p:cNvSpPr txBox="1"/>
          <p:nvPr/>
        </p:nvSpPr>
        <p:spPr>
          <a:xfrm>
            <a:off x="749808" y="3986784"/>
            <a:ext cx="1066190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What this project does NOT claim</a:t>
            </a:r>
            <a:endParaRPr lang="en-US" sz="1700" dirty="0"/>
          </a:p>
        </p:txBody>
      </p:sp>
      <p:sp>
        <p:nvSpPr>
          <p:cNvPr id="12" name="Text 9"/>
          <p:cNvSpPr txBox="1"/>
          <p:nvPr/>
        </p:nvSpPr>
        <p:spPr>
          <a:xfrm>
            <a:off x="749808" y="4407408"/>
            <a:ext cx="10661904" cy="150876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No inventory, lead-time, margin or planner override data exists in M5, so no stockout reduction, cash savings or "forecast value added" can be measured. Recorded sales may be censored demand (zero sales does not prove a stockout). The 200-series panel is not Walmart-wide.</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data: real M5 sales, fixed 200-series panel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828800"/>
                <a:gridCol w="512064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Item</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M5 (Kaggle 2020) via Zenodo record 10203108; SHA-256 verified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History</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1,941 days: 29 Jan 2011 to 22 May 2016</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Panel</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200 series: CA_1 x 100, TX_1 x 100; FOODS 102, HOUSEHOLD 98</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Pilot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30 series (15 per store) used first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Rows / units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388,200 series-days; 865,515 units sold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Selection rule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First 730 days only; &gt;=100 units and &gt;=100 selling days; 20 strata</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Missing prices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22,253 days, all before the item was first priced; kept missing</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Zero-sales days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50% of all series-days (includes pre-launch)</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bl>
          </a:graphicData>
        </a:graphic>
      </p:graphicFrame>
      <p:sp>
        <p:nvSpPr>
          <p:cNvPr id="5" name="card Representativeness limits"/>
          <p:cNvSpPr/>
          <p:nvPr/>
        </p:nvSpPr>
        <p:spPr>
          <a:xfrm>
            <a:off x="7863840" y="1371600"/>
            <a:ext cx="3749040" cy="4663440"/>
          </a:xfrm>
          <a:prstGeom prst="roundRect">
            <a:avLst>
              <a:gd name="adj" fmla="val 1951"/>
            </a:avLst>
          </a:prstGeom>
          <a:solidFill>
            <a:srgbClr val="FBF1E3"/>
          </a:solidFill>
          <a:ln w="12700">
            <a:solidFill>
              <a:srgbClr val="FBF1E3"/>
            </a:solidFill>
            <a:prstDash val="solid"/>
          </a:ln>
        </p:spPr>
      </p:sp>
      <p:sp>
        <p:nvSpPr>
          <p:cNvPr id="6" name="Text 2"/>
          <p:cNvSpPr txBox="1"/>
          <p:nvPr/>
        </p:nvSpPr>
        <p:spPr>
          <a:xfrm>
            <a:off x="8065008" y="1517904"/>
            <a:ext cx="334670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Representativeness limits</a:t>
            </a:r>
            <a:endParaRPr lang="en-US" sz="1700" dirty="0"/>
          </a:p>
        </p:txBody>
      </p:sp>
      <p:sp>
        <p:nvSpPr>
          <p:cNvPr id="7" name="Text 3"/>
          <p:cNvSpPr txBox="1"/>
          <p:nvPr/>
        </p:nvSpPr>
        <p:spPr>
          <a:xfrm>
            <a:off x="8065008" y="1938528"/>
            <a:ext cx="3346704" cy="39776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Two stores in two states.</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Only FOODS and HOUSEHOLD (no HOBBIES).</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Sparse and new products excluded by design.</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Anonymised items; no store context.</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Results describe this panel, not Walmart.</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company: where the sales are</a:t>
            </a:r>
            <a:endParaRPr lang="en-US" sz="3200" dirty="0"/>
          </a:p>
        </p:txBody>
      </p:sp>
      <p:sp>
        <p:nvSpPr>
          <p:cNvPr id="4" name="Text 1"/>
          <p:cNvSpPr txBox="1"/>
          <p:nvPr/>
        </p:nvSpPr>
        <p:spPr>
          <a:xfrm>
            <a:off x="548640" y="1325880"/>
            <a:ext cx="2651760" cy="868680"/>
          </a:xfrm>
          <a:prstGeom prst="rect">
            <a:avLst/>
          </a:prstGeom>
          <a:noFill/>
          <a:ln/>
        </p:spPr>
        <p:txBody>
          <a:bodyPr wrap="square" lIns="0" tIns="0" rIns="0" bIns="0" rtlCol="0" anchor="b"/>
          <a:lstStyle/>
          <a:p>
            <a:pPr indent="0" marL="0">
              <a:buNone/>
            </a:pPr>
            <a:r>
              <a:rPr lang="en-US" sz="4400" b="1" dirty="0">
                <a:solidFill>
                  <a:srgbClr val="0F7173"/>
                </a:solidFill>
                <a:latin typeface="Cambria" pitchFamily="34" charset="0"/>
                <a:ea typeface="Cambria" pitchFamily="34" charset="-122"/>
                <a:cs typeface="Cambria" pitchFamily="34" charset="-120"/>
              </a:rPr>
              <a:t>66.9M</a:t>
            </a:r>
            <a:endParaRPr lang="en-US" sz="4400" dirty="0"/>
          </a:p>
        </p:txBody>
      </p:sp>
      <p:sp>
        <p:nvSpPr>
          <p:cNvPr id="5" name="Text 2"/>
          <p:cNvSpPr txBox="1"/>
          <p:nvPr/>
        </p:nvSpPr>
        <p:spPr>
          <a:xfrm>
            <a:off x="548640" y="2240280"/>
            <a:ext cx="2651760" cy="822960"/>
          </a:xfrm>
          <a:prstGeom prst="rect">
            <a:avLst/>
          </a:prstGeom>
          <a:noFill/>
          <a:ln/>
        </p:spPr>
        <p:txBody>
          <a:bodyPr wrap="square" lIns="0" tIns="0" rIns="0" bIns="0" rtlCol="0" anchor="t"/>
          <a:lstStyle/>
          <a:p>
            <a:pPr indent="0" marL="0">
              <a:buNone/>
            </a:pPr>
            <a:r>
              <a:rPr lang="en-US" sz="1400" dirty="0">
                <a:solidFill>
                  <a:srgbClr val="5E6B6E"/>
                </a:solidFill>
              </a:rPr>
              <a:t>units sold across 30,490 product-store series in 10 stores, 2011-2016</a:t>
            </a:r>
            <a:endParaRPr lang="en-US" sz="1400" dirty="0"/>
          </a:p>
        </p:txBody>
      </p:sp>
      <p:sp>
        <p:nvSpPr>
          <p:cNvPr id="6" name="Text 3"/>
          <p:cNvSpPr txBox="1"/>
          <p:nvPr/>
        </p:nvSpPr>
        <p:spPr>
          <a:xfrm>
            <a:off x="548640" y="3063240"/>
            <a:ext cx="2651760" cy="868680"/>
          </a:xfrm>
          <a:prstGeom prst="rect">
            <a:avLst/>
          </a:prstGeom>
          <a:noFill/>
          <a:ln/>
        </p:spPr>
        <p:txBody>
          <a:bodyPr wrap="square" lIns="0" tIns="0" rIns="0" bIns="0" rtlCol="0" anchor="b"/>
          <a:lstStyle/>
          <a:p>
            <a:pPr indent="0" marL="0">
              <a:buNone/>
            </a:pPr>
            <a:r>
              <a:rPr lang="en-US" sz="4400" b="1" dirty="0">
                <a:solidFill>
                  <a:srgbClr val="E09F3E"/>
                </a:solidFill>
                <a:latin typeface="Cambria" pitchFamily="34" charset="0"/>
                <a:ea typeface="Cambria" pitchFamily="34" charset="-122"/>
                <a:cs typeface="Cambria" pitchFamily="34" charset="-120"/>
              </a:rPr>
              <a:t>55%</a:t>
            </a:r>
            <a:endParaRPr lang="en-US" sz="4400" dirty="0"/>
          </a:p>
        </p:txBody>
      </p:sp>
      <p:sp>
        <p:nvSpPr>
          <p:cNvPr id="7" name="Text 4"/>
          <p:cNvSpPr txBox="1"/>
          <p:nvPr/>
        </p:nvSpPr>
        <p:spPr>
          <a:xfrm>
            <a:off x="548640" y="3977640"/>
            <a:ext cx="2651760" cy="822960"/>
          </a:xfrm>
          <a:prstGeom prst="rect">
            <a:avLst/>
          </a:prstGeom>
          <a:noFill/>
          <a:ln/>
        </p:spPr>
        <p:txBody>
          <a:bodyPr wrap="square" lIns="0" tIns="0" rIns="0" bIns="0" rtlCol="0" anchor="t"/>
          <a:lstStyle/>
          <a:p>
            <a:pPr indent="0" marL="0">
              <a:buNone/>
            </a:pPr>
            <a:r>
              <a:rPr lang="en-US" sz="1400" dirty="0">
                <a:solidFill>
                  <a:srgbClr val="5E6B6E"/>
                </a:solidFill>
              </a:rPr>
              <a:t>of units come from the top 10% of series (top 20%: 70%)</a:t>
            </a:r>
            <a:endParaRPr lang="en-US" sz="1400" dirty="0"/>
          </a:p>
        </p:txBody>
      </p:sp>
      <p:sp>
        <p:nvSpPr>
          <p:cNvPr id="8" name="Text 5"/>
          <p:cNvSpPr txBox="1"/>
          <p:nvPr/>
        </p:nvSpPr>
        <p:spPr>
          <a:xfrm>
            <a:off x="548640" y="4800600"/>
            <a:ext cx="2651760" cy="868680"/>
          </a:xfrm>
          <a:prstGeom prst="rect">
            <a:avLst/>
          </a:prstGeom>
          <a:noFill/>
          <a:ln/>
        </p:spPr>
        <p:txBody>
          <a:bodyPr wrap="square" lIns="0" tIns="0" rIns="0" bIns="0" rtlCol="0" anchor="b"/>
          <a:lstStyle/>
          <a:p>
            <a:pPr indent="0" marL="0">
              <a:buNone/>
            </a:pPr>
            <a:r>
              <a:rPr lang="en-US" sz="4400" b="1" dirty="0">
                <a:solidFill>
                  <a:srgbClr val="5B8E7D"/>
                </a:solidFill>
                <a:latin typeface="Cambria" pitchFamily="34" charset="0"/>
                <a:ea typeface="Cambria" pitchFamily="34" charset="-122"/>
                <a:cs typeface="Cambria" pitchFamily="34" charset="-120"/>
              </a:rPr>
              <a:t>60%</a:t>
            </a:r>
            <a:endParaRPr lang="en-US" sz="4400" dirty="0"/>
          </a:p>
        </p:txBody>
      </p:sp>
      <p:sp>
        <p:nvSpPr>
          <p:cNvPr id="9" name="Text 6"/>
          <p:cNvSpPr txBox="1"/>
          <p:nvPr/>
        </p:nvSpPr>
        <p:spPr>
          <a:xfrm>
            <a:off x="548640" y="5715000"/>
            <a:ext cx="2651760" cy="822960"/>
          </a:xfrm>
          <a:prstGeom prst="rect">
            <a:avLst/>
          </a:prstGeom>
          <a:noFill/>
          <a:ln/>
        </p:spPr>
        <p:txBody>
          <a:bodyPr wrap="square" lIns="0" tIns="0" rIns="0" bIns="0" rtlCol="0" anchor="t"/>
          <a:lstStyle/>
          <a:p>
            <a:pPr indent="0" marL="0">
              <a:buNone/>
            </a:pPr>
            <a:r>
              <a:rPr lang="en-US" sz="1400" dirty="0">
                <a:solidFill>
                  <a:srgbClr val="5E6B6E"/>
                </a:solidFill>
              </a:rPr>
              <a:t>of days with zero sales for a typical series after launch</a:t>
            </a:r>
            <a:endParaRPr lang="en-US" sz="1400" dirty="0"/>
          </a:p>
        </p:txBody>
      </p:sp>
      <p:graphicFrame>
        <p:nvGraphicFramePr>
          <p:cNvPr id="10" name="Chart 0" descr=""/>
          <p:cNvGraphicFramePr/>
          <p:nvPr/>
        </p:nvGraphicFramePr>
        <p:xfrm>
          <a:off x="3474720" y="1325880"/>
          <a:ext cx="402336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Chart 1" descr=""/>
          <p:cNvGraphicFramePr/>
          <p:nvPr/>
        </p:nvGraphicFramePr>
        <p:xfrm>
          <a:off x="7680960" y="1325880"/>
          <a:ext cx="3931920" cy="48463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Demand patterns a forecast must respect</a:t>
            </a:r>
            <a:endParaRPr lang="en-US" sz="3200" dirty="0"/>
          </a:p>
        </p:txBody>
      </p:sp>
      <p:graphicFrame>
        <p:nvGraphicFramePr>
          <p:cNvPr id="4" name="Chart 0" descr=""/>
          <p:cNvGraphicFramePr/>
          <p:nvPr/>
        </p:nvGraphicFramePr>
        <p:xfrm>
          <a:off x="548640" y="1325880"/>
          <a:ext cx="5486400" cy="4846320"/>
        </p:xfrm>
        <a:graphic xmlns:a="http://schemas.openxmlformats.org/drawingml/2006/main">
          <a:graphicData uri="http://schemas.openxmlformats.org/drawingml/2006/chart">
            <c:chart xmlns:c="http://schemas.openxmlformats.org/drawingml/2006/chart" r:id="rId1"/>
          </a:graphicData>
        </a:graphic>
      </p:graphicFrame>
      <p:sp>
        <p:nvSpPr>
          <p:cNvPr id="5" name="card Weekly rhythm"/>
          <p:cNvSpPr/>
          <p:nvPr/>
        </p:nvSpPr>
        <p:spPr>
          <a:xfrm>
            <a:off x="6309360" y="1325880"/>
            <a:ext cx="5303520" cy="1463040"/>
          </a:xfrm>
          <a:prstGeom prst="roundRect">
            <a:avLst>
              <a:gd name="adj" fmla="val 5000"/>
            </a:avLst>
          </a:prstGeom>
          <a:solidFill>
            <a:srgbClr val="EEF3F3"/>
          </a:solidFill>
          <a:ln w="12700">
            <a:solidFill>
              <a:srgbClr val="EEF3F3"/>
            </a:solidFill>
            <a:prstDash val="solid"/>
          </a:ln>
        </p:spPr>
      </p:sp>
      <p:sp>
        <p:nvSpPr>
          <p:cNvPr id="6" name="Text 2"/>
          <p:cNvSpPr txBox="1"/>
          <p:nvPr/>
        </p:nvSpPr>
        <p:spPr>
          <a:xfrm>
            <a:off x="6510528" y="1472184"/>
            <a:ext cx="490118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Weekly rhythm</a:t>
            </a:r>
            <a:endParaRPr lang="en-US" sz="1700" dirty="0"/>
          </a:p>
        </p:txBody>
      </p:sp>
      <p:sp>
        <p:nvSpPr>
          <p:cNvPr id="7" name="Text 3"/>
          <p:cNvSpPr txBox="1"/>
          <p:nvPr/>
        </p:nvSpPr>
        <p:spPr>
          <a:xfrm>
            <a:off x="6510528" y="1892808"/>
            <a:ext cx="4901184" cy="7772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Saturday and Sunday run about 120-123 vs a mid-week trough near 86-89 (week average = 100).</a:t>
            </a:r>
            <a:endParaRPr lang="en-US" sz="1400" dirty="0"/>
          </a:p>
        </p:txBody>
      </p:sp>
      <p:sp>
        <p:nvSpPr>
          <p:cNvPr id="8" name="card Holidays"/>
          <p:cNvSpPr/>
          <p:nvPr/>
        </p:nvSpPr>
        <p:spPr>
          <a:xfrm>
            <a:off x="6309360" y="3017520"/>
            <a:ext cx="5303520" cy="1463040"/>
          </a:xfrm>
          <a:prstGeom prst="roundRect">
            <a:avLst>
              <a:gd name="adj" fmla="val 5000"/>
            </a:avLst>
          </a:prstGeom>
          <a:solidFill>
            <a:srgbClr val="EEF3F3"/>
          </a:solidFill>
          <a:ln w="12700">
            <a:solidFill>
              <a:srgbClr val="EEF3F3"/>
            </a:solidFill>
            <a:prstDash val="solid"/>
          </a:ln>
        </p:spPr>
      </p:sp>
      <p:sp>
        <p:nvSpPr>
          <p:cNvPr id="9" name="Text 5"/>
          <p:cNvSpPr txBox="1"/>
          <p:nvPr/>
        </p:nvSpPr>
        <p:spPr>
          <a:xfrm>
            <a:off x="6510528" y="3163824"/>
            <a:ext cx="490118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Holidays</a:t>
            </a:r>
            <a:endParaRPr lang="en-US" sz="1700" dirty="0"/>
          </a:p>
        </p:txBody>
      </p:sp>
      <p:sp>
        <p:nvSpPr>
          <p:cNvPr id="10" name="Text 6"/>
          <p:cNvSpPr txBox="1"/>
          <p:nvPr/>
        </p:nvSpPr>
        <p:spPr>
          <a:xfrm>
            <a:off x="6510528" y="3584448"/>
            <a:ext cx="4901184" cy="7772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Christmas -100% (stores closed); Thanksgiving -28%; Labor Day +26% vs the same weekday in nearby weeks.</a:t>
            </a:r>
            <a:endParaRPr lang="en-US" sz="1400" dirty="0"/>
          </a:p>
        </p:txBody>
      </p:sp>
      <p:sp>
        <p:nvSpPr>
          <p:cNvPr id="11" name="card Our sample vs the company"/>
          <p:cNvSpPr/>
          <p:nvPr/>
        </p:nvSpPr>
        <p:spPr>
          <a:xfrm>
            <a:off x="6309360" y="4709160"/>
            <a:ext cx="5303520" cy="1463040"/>
          </a:xfrm>
          <a:prstGeom prst="roundRect">
            <a:avLst>
              <a:gd name="adj" fmla="val 5000"/>
            </a:avLst>
          </a:prstGeom>
          <a:solidFill>
            <a:srgbClr val="FBF1E3"/>
          </a:solidFill>
          <a:ln w="12700">
            <a:solidFill>
              <a:srgbClr val="FBF1E3"/>
            </a:solidFill>
            <a:prstDash val="solid"/>
          </a:ln>
        </p:spPr>
      </p:sp>
      <p:sp>
        <p:nvSpPr>
          <p:cNvPr id="12" name="Text 8"/>
          <p:cNvSpPr txBox="1"/>
          <p:nvPr/>
        </p:nvSpPr>
        <p:spPr>
          <a:xfrm>
            <a:off x="6510528" y="4855464"/>
            <a:ext cx="490118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Our sample vs the company</a:t>
            </a:r>
            <a:endParaRPr lang="en-US" sz="1700" dirty="0"/>
          </a:p>
        </p:txBody>
      </p:sp>
      <p:sp>
        <p:nvSpPr>
          <p:cNvPr id="13" name="Text 9"/>
          <p:cNvSpPr txBox="1"/>
          <p:nvPr/>
        </p:nvSpPr>
        <p:spPr>
          <a:xfrm>
            <a:off x="6510528" y="5276088"/>
            <a:ext cx="4901184" cy="7772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Sample series sell 2.4 units/day vs 1.4 company-wide and have fewer zero days: results flatter sparse items.</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How the project was built</a:t>
            </a:r>
            <a:endParaRPr lang="en-US" sz="4000" dirty="0"/>
          </a:p>
        </p:txBody>
      </p:sp>
      <p:sp>
        <p:nvSpPr>
          <p:cNvPr id="3" name="Text 0"/>
          <p:cNvSpPr/>
          <p:nvPr>
            <p:ph idx="101" type="body" hasCustomPrompt="1"/>
          </p:nvPr>
        </p:nvSpPr>
        <p:spPr>
          <a:xfrm>
            <a:off x="731520" y="3703320"/>
            <a:ext cx="10698480" cy="1097280"/>
          </a:xfrm>
          <a:prstGeom prst="rect">
            <a:avLst/>
          </a:prstGeom>
          <a:noFill/>
          <a:ln/>
        </p:spPr>
        <p:txBody>
          <a:bodyPr wrap="square" lIns="0" tIns="0" rIns="0" bIns="0" rtlCol="0" anchor="t"/>
          <a:lstStyle/>
          <a:p>
            <a:pPr indent="0" marL="0">
              <a:buNone/>
            </a:pPr>
            <a:r>
              <a:rPr lang="en-US" sz="1800" dirty="0">
                <a:solidFill>
                  <a:srgbClr val="E3F1F1"/>
                </a:solidFill>
                <a:latin typeface="Calibri" pitchFamily="34" charset="0"/>
                <a:ea typeface="Calibri" pitchFamily="34" charset="-122"/>
                <a:cs typeface="Calibri" pitchFamily="34" charset="-120"/>
              </a:rPr>
              <a:t>Pipeline, tools, SQL and the rules that keep the test honest</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E3F1F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Pipeline: from raw files to results</a:t>
            </a:r>
            <a:endParaRPr lang="en-US" sz="3200" dirty="0"/>
          </a:p>
        </p:txBody>
      </p:sp>
      <p:sp>
        <p:nvSpPr>
          <p:cNvPr id="4" name="step Raw M5 files"/>
          <p:cNvSpPr/>
          <p:nvPr/>
        </p:nvSpPr>
        <p:spPr>
          <a:xfrm>
            <a:off x="548640" y="1737360"/>
            <a:ext cx="1645920" cy="1737360"/>
          </a:xfrm>
          <a:prstGeom prst="roundRect">
            <a:avLst>
              <a:gd name="adj" fmla="val 5556"/>
            </a:avLst>
          </a:prstGeom>
          <a:solidFill>
            <a:srgbClr val="0F7173"/>
          </a:solidFill>
          <a:ln w="12700">
            <a:solidFill>
              <a:srgbClr val="FFFFFF"/>
            </a:solidFill>
            <a:prstDash val="solid"/>
          </a:ln>
        </p:spPr>
      </p:sp>
      <p:sp>
        <p:nvSpPr>
          <p:cNvPr id="5" name="Text 2"/>
          <p:cNvSpPr txBox="1"/>
          <p:nvPr/>
        </p:nvSpPr>
        <p:spPr>
          <a:xfrm>
            <a:off x="640080" y="182880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Raw M5 files</a:t>
            </a:r>
            <a:endParaRPr lang="en-US" sz="1500" dirty="0"/>
          </a:p>
        </p:txBody>
      </p:sp>
      <p:sp>
        <p:nvSpPr>
          <p:cNvPr id="6" name="Text 3"/>
          <p:cNvSpPr txBox="1"/>
          <p:nvPr/>
        </p:nvSpPr>
        <p:spPr>
          <a:xfrm>
            <a:off x="640080" y="2423160"/>
            <a:ext cx="1463040" cy="960120"/>
          </a:xfrm>
          <a:prstGeom prst="rect">
            <a:avLst/>
          </a:prstGeom>
          <a:noFill/>
          <a:ln/>
        </p:spPr>
        <p:txBody>
          <a:bodyPr wrap="square" lIns="0" tIns="0" rIns="0" bIns="0" rtlCol="0" anchor="t"/>
          <a:lstStyle/>
          <a:p>
            <a:pPr algn="ctr" indent="0" marL="0">
              <a:buNone/>
            </a:pPr>
            <a:r>
              <a:rPr lang="en-US" sz="1200" dirty="0">
                <a:solidFill>
                  <a:srgbClr val="FFFFFF"/>
                </a:solidFill>
              </a:rPr>
              <a:t>checksums verified</a:t>
            </a:r>
            <a:endParaRPr lang="en-US" sz="1200" dirty="0"/>
          </a:p>
          <a:p>
            <a:pPr algn="ctr" indent="0" marL="0">
              <a:buNone/>
            </a:pPr>
            <a:r>
              <a:rPr lang="en-US" sz="1200" dirty="0">
                <a:solidFill>
                  <a:srgbClr val="FFFFFF"/>
                </a:solidFill>
              </a:rPr>
              <a:t>(scripts/download_data.py)</a:t>
            </a:r>
            <a:endParaRPr lang="en-US" sz="1200" dirty="0"/>
          </a:p>
        </p:txBody>
      </p:sp>
      <p:sp>
        <p:nvSpPr>
          <p:cNvPr id="7" name="arrow 0"/>
          <p:cNvSpPr/>
          <p:nvPr/>
        </p:nvSpPr>
        <p:spPr>
          <a:xfrm>
            <a:off x="2231136" y="2487168"/>
            <a:ext cx="182880" cy="228600"/>
          </a:xfrm>
          <a:prstGeom prst="rtTriangle">
            <a:avLst/>
          </a:prstGeom>
          <a:solidFill>
            <a:srgbClr val="9AA5A6"/>
          </a:solidFill>
          <a:ln w="12700">
            <a:solidFill>
              <a:srgbClr val="9AA5A6"/>
            </a:solidFill>
            <a:prstDash val="solid"/>
          </a:ln>
        </p:spPr>
      </p:sp>
      <p:sp>
        <p:nvSpPr>
          <p:cNvPr id="8" name="step Prepare panel"/>
          <p:cNvSpPr/>
          <p:nvPr/>
        </p:nvSpPr>
        <p:spPr>
          <a:xfrm>
            <a:off x="2441448" y="1737360"/>
            <a:ext cx="1645920" cy="1737360"/>
          </a:xfrm>
          <a:prstGeom prst="roundRect">
            <a:avLst>
              <a:gd name="adj" fmla="val 5556"/>
            </a:avLst>
          </a:prstGeom>
          <a:solidFill>
            <a:srgbClr val="0F7173"/>
          </a:solidFill>
          <a:ln w="12700">
            <a:solidFill>
              <a:srgbClr val="FFFFFF"/>
            </a:solidFill>
            <a:prstDash val="solid"/>
          </a:ln>
        </p:spPr>
      </p:sp>
      <p:sp>
        <p:nvSpPr>
          <p:cNvPr id="9" name="Text 6"/>
          <p:cNvSpPr txBox="1"/>
          <p:nvPr/>
        </p:nvSpPr>
        <p:spPr>
          <a:xfrm>
            <a:off x="2532888" y="182880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Prepare panel</a:t>
            </a:r>
            <a:endParaRPr lang="en-US" sz="1500" dirty="0"/>
          </a:p>
        </p:txBody>
      </p:sp>
      <p:sp>
        <p:nvSpPr>
          <p:cNvPr id="10" name="Text 7"/>
          <p:cNvSpPr txBox="1"/>
          <p:nvPr/>
        </p:nvSpPr>
        <p:spPr>
          <a:xfrm>
            <a:off x="2532888" y="2423160"/>
            <a:ext cx="1463040" cy="960120"/>
          </a:xfrm>
          <a:prstGeom prst="rect">
            <a:avLst/>
          </a:prstGeom>
          <a:noFill/>
          <a:ln/>
        </p:spPr>
        <p:txBody>
          <a:bodyPr wrap="square" lIns="0" tIns="0" rIns="0" bIns="0" rtlCol="0" anchor="t"/>
          <a:lstStyle/>
          <a:p>
            <a:pPr algn="ctr" indent="0" marL="0">
              <a:buNone/>
            </a:pPr>
            <a:r>
              <a:rPr lang="en-US" sz="1200" dirty="0">
                <a:solidFill>
                  <a:srgbClr val="FFFFFF"/>
                </a:solidFill>
              </a:rPr>
              <a:t>fixed 200 series</a:t>
            </a:r>
            <a:endParaRPr lang="en-US" sz="1200" dirty="0"/>
          </a:p>
          <a:p>
            <a:pPr algn="ctr" indent="0" marL="0">
              <a:buNone/>
            </a:pPr>
            <a:r>
              <a:rPr lang="en-US" sz="1200" dirty="0">
                <a:solidFill>
                  <a:srgbClr val="FFFFFF"/>
                </a:solidFill>
              </a:rPr>
              <a:t>(prepare_data.py)</a:t>
            </a:r>
            <a:endParaRPr lang="en-US" sz="1200" dirty="0"/>
          </a:p>
        </p:txBody>
      </p:sp>
      <p:sp>
        <p:nvSpPr>
          <p:cNvPr id="11" name="arrow 1"/>
          <p:cNvSpPr/>
          <p:nvPr/>
        </p:nvSpPr>
        <p:spPr>
          <a:xfrm>
            <a:off x="4123944" y="2487168"/>
            <a:ext cx="182880" cy="228600"/>
          </a:xfrm>
          <a:prstGeom prst="rtTriangle">
            <a:avLst/>
          </a:prstGeom>
          <a:solidFill>
            <a:srgbClr val="9AA5A6"/>
          </a:solidFill>
          <a:ln w="12700">
            <a:solidFill>
              <a:srgbClr val="9AA5A6"/>
            </a:solidFill>
            <a:prstDash val="solid"/>
          </a:ln>
        </p:spPr>
      </p:sp>
      <p:sp>
        <p:nvSpPr>
          <p:cNvPr id="12" name="step DuckDB SQL"/>
          <p:cNvSpPr/>
          <p:nvPr/>
        </p:nvSpPr>
        <p:spPr>
          <a:xfrm>
            <a:off x="4334256" y="1737360"/>
            <a:ext cx="1645920" cy="1737360"/>
          </a:xfrm>
          <a:prstGeom prst="roundRect">
            <a:avLst>
              <a:gd name="adj" fmla="val 5556"/>
            </a:avLst>
          </a:prstGeom>
          <a:solidFill>
            <a:srgbClr val="E09F3E"/>
          </a:solidFill>
          <a:ln w="12700">
            <a:solidFill>
              <a:srgbClr val="FFFFFF"/>
            </a:solidFill>
            <a:prstDash val="solid"/>
          </a:ln>
        </p:spPr>
      </p:sp>
      <p:sp>
        <p:nvSpPr>
          <p:cNvPr id="13" name="Text 10"/>
          <p:cNvSpPr txBox="1"/>
          <p:nvPr/>
        </p:nvSpPr>
        <p:spPr>
          <a:xfrm>
            <a:off x="4425696" y="182880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DuckDB SQL</a:t>
            </a:r>
            <a:endParaRPr lang="en-US" sz="1500" dirty="0"/>
          </a:p>
        </p:txBody>
      </p:sp>
      <p:sp>
        <p:nvSpPr>
          <p:cNvPr id="14" name="Text 11"/>
          <p:cNvSpPr txBox="1"/>
          <p:nvPr/>
        </p:nvSpPr>
        <p:spPr>
          <a:xfrm>
            <a:off x="4425696" y="2423160"/>
            <a:ext cx="1463040" cy="960120"/>
          </a:xfrm>
          <a:prstGeom prst="rect">
            <a:avLst/>
          </a:prstGeom>
          <a:noFill/>
          <a:ln/>
        </p:spPr>
        <p:txBody>
          <a:bodyPr wrap="square" lIns="0" tIns="0" rIns="0" bIns="0" rtlCol="0" anchor="t"/>
          <a:lstStyle/>
          <a:p>
            <a:pPr algn="ctr" indent="0" marL="0">
              <a:buNone/>
            </a:pPr>
            <a:r>
              <a:rPr lang="en-US" sz="1200" dirty="0">
                <a:solidFill>
                  <a:srgbClr val="FFFFFF"/>
                </a:solidFill>
              </a:rPr>
              <a:t>load, join, 26 audit checks</a:t>
            </a:r>
            <a:endParaRPr lang="en-US" sz="1200" dirty="0"/>
          </a:p>
          <a:p>
            <a:pPr algn="ctr" indent="0" marL="0">
              <a:buNone/>
            </a:pPr>
            <a:r>
              <a:rPr lang="en-US" sz="1200" dirty="0">
                <a:solidFill>
                  <a:srgbClr val="FFFFFF"/>
                </a:solidFill>
              </a:rPr>
              <a:t>(sql/01_load_audit.sql)</a:t>
            </a:r>
            <a:endParaRPr lang="en-US" sz="1200" dirty="0"/>
          </a:p>
        </p:txBody>
      </p:sp>
      <p:sp>
        <p:nvSpPr>
          <p:cNvPr id="15" name="arrow 2"/>
          <p:cNvSpPr/>
          <p:nvPr/>
        </p:nvSpPr>
        <p:spPr>
          <a:xfrm>
            <a:off x="6016752" y="2487168"/>
            <a:ext cx="182880" cy="228600"/>
          </a:xfrm>
          <a:prstGeom prst="rtTriangle">
            <a:avLst/>
          </a:prstGeom>
          <a:solidFill>
            <a:srgbClr val="9AA5A6"/>
          </a:solidFill>
          <a:ln w="12700">
            <a:solidFill>
              <a:srgbClr val="9AA5A6"/>
            </a:solidFill>
            <a:prstDash val="solid"/>
          </a:ln>
        </p:spPr>
      </p:sp>
      <p:sp>
        <p:nvSpPr>
          <p:cNvPr id="16" name="step Python models"/>
          <p:cNvSpPr/>
          <p:nvPr/>
        </p:nvSpPr>
        <p:spPr>
          <a:xfrm>
            <a:off x="6227064" y="1737360"/>
            <a:ext cx="1645920" cy="1737360"/>
          </a:xfrm>
          <a:prstGeom prst="roundRect">
            <a:avLst>
              <a:gd name="adj" fmla="val 5556"/>
            </a:avLst>
          </a:prstGeom>
          <a:solidFill>
            <a:srgbClr val="0F7173"/>
          </a:solidFill>
          <a:ln w="12700">
            <a:solidFill>
              <a:srgbClr val="FFFFFF"/>
            </a:solidFill>
            <a:prstDash val="solid"/>
          </a:ln>
        </p:spPr>
      </p:sp>
      <p:sp>
        <p:nvSpPr>
          <p:cNvPr id="17" name="Text 14"/>
          <p:cNvSpPr txBox="1"/>
          <p:nvPr/>
        </p:nvSpPr>
        <p:spPr>
          <a:xfrm>
            <a:off x="6318504" y="182880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Python models</a:t>
            </a:r>
            <a:endParaRPr lang="en-US" sz="1500" dirty="0"/>
          </a:p>
        </p:txBody>
      </p:sp>
      <p:sp>
        <p:nvSpPr>
          <p:cNvPr id="18" name="Text 15"/>
          <p:cNvSpPr txBox="1"/>
          <p:nvPr/>
        </p:nvSpPr>
        <p:spPr>
          <a:xfrm>
            <a:off x="6318504" y="2423160"/>
            <a:ext cx="1463040" cy="960120"/>
          </a:xfrm>
          <a:prstGeom prst="rect">
            <a:avLst/>
          </a:prstGeom>
          <a:noFill/>
          <a:ln/>
        </p:spPr>
        <p:txBody>
          <a:bodyPr wrap="square" lIns="0" tIns="0" rIns="0" bIns="0" rtlCol="0" anchor="t"/>
          <a:lstStyle/>
          <a:p>
            <a:pPr algn="ctr" indent="0" marL="0">
              <a:buNone/>
            </a:pPr>
            <a:r>
              <a:rPr lang="en-US" sz="1200" dirty="0">
                <a:solidFill>
                  <a:srgbClr val="FFFFFF"/>
                </a:solidFill>
              </a:rPr>
              <a:t>naive, ETS, LightGBM</a:t>
            </a:r>
            <a:endParaRPr lang="en-US" sz="1200" dirty="0"/>
          </a:p>
          <a:p>
            <a:pPr algn="ctr" indent="0" marL="0">
              <a:buNone/>
            </a:pPr>
            <a:r>
              <a:rPr lang="en-US" sz="1200" dirty="0">
                <a:solidFill>
                  <a:srgbClr val="FFFFFF"/>
                </a:solidFill>
              </a:rPr>
              <a:t>weekly backtest</a:t>
            </a:r>
            <a:endParaRPr lang="en-US" sz="1200" dirty="0"/>
          </a:p>
        </p:txBody>
      </p:sp>
      <p:sp>
        <p:nvSpPr>
          <p:cNvPr id="19" name="arrow 3"/>
          <p:cNvSpPr/>
          <p:nvPr/>
        </p:nvSpPr>
        <p:spPr>
          <a:xfrm>
            <a:off x="7909560" y="2487168"/>
            <a:ext cx="182880" cy="228600"/>
          </a:xfrm>
          <a:prstGeom prst="rtTriangle">
            <a:avLst/>
          </a:prstGeom>
          <a:solidFill>
            <a:srgbClr val="9AA5A6"/>
          </a:solidFill>
          <a:ln w="12700">
            <a:solidFill>
              <a:srgbClr val="9AA5A6"/>
            </a:solidFill>
            <a:prstDash val="solid"/>
          </a:ln>
        </p:spPr>
      </p:sp>
      <p:sp>
        <p:nvSpPr>
          <p:cNvPr id="20" name="step Evaluate"/>
          <p:cNvSpPr/>
          <p:nvPr/>
        </p:nvSpPr>
        <p:spPr>
          <a:xfrm>
            <a:off x="8119872" y="1737360"/>
            <a:ext cx="1645920" cy="1737360"/>
          </a:xfrm>
          <a:prstGeom prst="roundRect">
            <a:avLst>
              <a:gd name="adj" fmla="val 5556"/>
            </a:avLst>
          </a:prstGeom>
          <a:solidFill>
            <a:srgbClr val="0F7173"/>
          </a:solidFill>
          <a:ln w="12700">
            <a:solidFill>
              <a:srgbClr val="FFFFFF"/>
            </a:solidFill>
            <a:prstDash val="solid"/>
          </a:ln>
        </p:spPr>
      </p:sp>
      <p:sp>
        <p:nvSpPr>
          <p:cNvPr id="21" name="Text 18"/>
          <p:cNvSpPr txBox="1"/>
          <p:nvPr/>
        </p:nvSpPr>
        <p:spPr>
          <a:xfrm>
            <a:off x="8211312" y="182880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Evaluate</a:t>
            </a:r>
            <a:endParaRPr lang="en-US" sz="1500" dirty="0"/>
          </a:p>
        </p:txBody>
      </p:sp>
      <p:sp>
        <p:nvSpPr>
          <p:cNvPr id="22" name="Text 19"/>
          <p:cNvSpPr txBox="1"/>
          <p:nvPr/>
        </p:nvSpPr>
        <p:spPr>
          <a:xfrm>
            <a:off x="8211312" y="2423160"/>
            <a:ext cx="1463040" cy="960120"/>
          </a:xfrm>
          <a:prstGeom prst="rect">
            <a:avLst/>
          </a:prstGeom>
          <a:noFill/>
          <a:ln/>
        </p:spPr>
        <p:txBody>
          <a:bodyPr wrap="square" lIns="0" tIns="0" rIns="0" bIns="0" rtlCol="0" anchor="t"/>
          <a:lstStyle/>
          <a:p>
            <a:pPr algn="ctr" indent="0" marL="0">
              <a:buNone/>
            </a:pPr>
            <a:r>
              <a:rPr lang="en-US" sz="1200" dirty="0">
                <a:solidFill>
                  <a:srgbClr val="FFFFFF"/>
                </a:solidFill>
              </a:rPr>
              <a:t>metrics, ranges,</a:t>
            </a:r>
            <a:endParaRPr lang="en-US" sz="1200" dirty="0"/>
          </a:p>
          <a:p>
            <a:pPr algn="ctr" indent="0" marL="0">
              <a:buNone/>
            </a:pPr>
            <a:r>
              <a:rPr lang="en-US" sz="1200" dirty="0">
                <a:solidFill>
                  <a:srgbClr val="FFFFFF"/>
                </a:solidFill>
              </a:rPr>
              <a:t>priority lists, holdout</a:t>
            </a:r>
            <a:endParaRPr lang="en-US" sz="1200" dirty="0"/>
          </a:p>
        </p:txBody>
      </p:sp>
      <p:sp>
        <p:nvSpPr>
          <p:cNvPr id="23" name="arrow 4"/>
          <p:cNvSpPr/>
          <p:nvPr/>
        </p:nvSpPr>
        <p:spPr>
          <a:xfrm>
            <a:off x="9802368" y="2487168"/>
            <a:ext cx="182880" cy="228600"/>
          </a:xfrm>
          <a:prstGeom prst="rtTriangle">
            <a:avLst/>
          </a:prstGeom>
          <a:solidFill>
            <a:srgbClr val="9AA5A6"/>
          </a:solidFill>
          <a:ln w="12700">
            <a:solidFill>
              <a:srgbClr val="9AA5A6"/>
            </a:solidFill>
            <a:prstDash val="solid"/>
          </a:ln>
        </p:spPr>
      </p:sp>
      <p:sp>
        <p:nvSpPr>
          <p:cNvPr id="24" name="step SQL reconcile"/>
          <p:cNvSpPr/>
          <p:nvPr/>
        </p:nvSpPr>
        <p:spPr>
          <a:xfrm>
            <a:off x="10012680" y="1737360"/>
            <a:ext cx="1645920" cy="1737360"/>
          </a:xfrm>
          <a:prstGeom prst="roundRect">
            <a:avLst>
              <a:gd name="adj" fmla="val 5556"/>
            </a:avLst>
          </a:prstGeom>
          <a:solidFill>
            <a:srgbClr val="E09F3E"/>
          </a:solidFill>
          <a:ln w="12700">
            <a:solidFill>
              <a:srgbClr val="FFFFFF"/>
            </a:solidFill>
            <a:prstDash val="solid"/>
          </a:ln>
        </p:spPr>
      </p:sp>
      <p:sp>
        <p:nvSpPr>
          <p:cNvPr id="25" name="Text 22"/>
          <p:cNvSpPr txBox="1"/>
          <p:nvPr/>
        </p:nvSpPr>
        <p:spPr>
          <a:xfrm>
            <a:off x="10104120" y="1828800"/>
            <a:ext cx="14630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SQL reconcile</a:t>
            </a:r>
            <a:endParaRPr lang="en-US" sz="1500" dirty="0"/>
          </a:p>
        </p:txBody>
      </p:sp>
      <p:sp>
        <p:nvSpPr>
          <p:cNvPr id="26" name="Text 23"/>
          <p:cNvSpPr txBox="1"/>
          <p:nvPr/>
        </p:nvSpPr>
        <p:spPr>
          <a:xfrm>
            <a:off x="10104120" y="2423160"/>
            <a:ext cx="1463040" cy="960120"/>
          </a:xfrm>
          <a:prstGeom prst="rect">
            <a:avLst/>
          </a:prstGeom>
          <a:noFill/>
          <a:ln/>
        </p:spPr>
        <p:txBody>
          <a:bodyPr wrap="square" lIns="0" tIns="0" rIns="0" bIns="0" rtlCol="0" anchor="t"/>
          <a:lstStyle/>
          <a:p>
            <a:pPr algn="ctr" indent="0" marL="0">
              <a:buNone/>
            </a:pPr>
            <a:r>
              <a:rPr lang="en-US" sz="1200" dirty="0">
                <a:solidFill>
                  <a:srgbClr val="FFFFFF"/>
                </a:solidFill>
              </a:rPr>
              <a:t>recompute metrics</a:t>
            </a:r>
            <a:endParaRPr lang="en-US" sz="1200" dirty="0"/>
          </a:p>
          <a:p>
            <a:pPr algn="ctr" indent="0" marL="0">
              <a:buNone/>
            </a:pPr>
            <a:r>
              <a:rPr lang="en-US" sz="1200" dirty="0">
                <a:solidFill>
                  <a:srgbClr val="FFFFFF"/>
                </a:solidFill>
              </a:rPr>
              <a:t>(sql/02_analytics.sql)</a:t>
            </a:r>
            <a:endParaRPr lang="en-US" sz="1200" dirty="0"/>
          </a:p>
        </p:txBody>
      </p:sp>
      <p:sp>
        <p:nvSpPr>
          <p:cNvPr id="27" name="card Checkpoint 1-2"/>
          <p:cNvSpPr/>
          <p:nvPr/>
        </p:nvSpPr>
        <p:spPr>
          <a:xfrm>
            <a:off x="548640" y="3931920"/>
            <a:ext cx="3566160" cy="2103120"/>
          </a:xfrm>
          <a:prstGeom prst="roundRect">
            <a:avLst>
              <a:gd name="adj" fmla="val 3478"/>
            </a:avLst>
          </a:prstGeom>
          <a:solidFill>
            <a:srgbClr val="EEF3F3"/>
          </a:solidFill>
          <a:ln w="12700">
            <a:solidFill>
              <a:srgbClr val="EEF3F3"/>
            </a:solidFill>
            <a:prstDash val="solid"/>
          </a:ln>
        </p:spPr>
      </p:sp>
      <p:sp>
        <p:nvSpPr>
          <p:cNvPr id="28" name="Text 25"/>
          <p:cNvSpPr txBox="1"/>
          <p:nvPr/>
        </p:nvSpPr>
        <p:spPr>
          <a:xfrm>
            <a:off x="749808" y="4078224"/>
            <a:ext cx="31638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Checkpoint 1-2</a:t>
            </a:r>
            <a:endParaRPr lang="en-US" sz="1700" dirty="0"/>
          </a:p>
        </p:txBody>
      </p:sp>
      <p:sp>
        <p:nvSpPr>
          <p:cNvPr id="29" name="Text 26"/>
          <p:cNvSpPr txBox="1"/>
          <p:nvPr/>
        </p:nvSpPr>
        <p:spPr>
          <a:xfrm>
            <a:off x="749808" y="4498848"/>
            <a:ext cx="3163824" cy="14173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Data audit, environment, SQL tables. 30-series pilot and 8 automated leakage / metric tests.</a:t>
            </a:r>
            <a:endParaRPr lang="en-US" sz="1400" dirty="0"/>
          </a:p>
        </p:txBody>
      </p:sp>
      <p:sp>
        <p:nvSpPr>
          <p:cNvPr id="30" name="card Checkpoint 3-4"/>
          <p:cNvSpPr/>
          <p:nvPr/>
        </p:nvSpPr>
        <p:spPr>
          <a:xfrm>
            <a:off x="4297680" y="3931920"/>
            <a:ext cx="3566160" cy="2103120"/>
          </a:xfrm>
          <a:prstGeom prst="roundRect">
            <a:avLst>
              <a:gd name="adj" fmla="val 3478"/>
            </a:avLst>
          </a:prstGeom>
          <a:solidFill>
            <a:srgbClr val="EEF3F3"/>
          </a:solidFill>
          <a:ln w="12700">
            <a:solidFill>
              <a:srgbClr val="EEF3F3"/>
            </a:solidFill>
            <a:prstDash val="solid"/>
          </a:ln>
        </p:spPr>
      </p:sp>
      <p:sp>
        <p:nvSpPr>
          <p:cNvPr id="31" name="Text 28"/>
          <p:cNvSpPr txBox="1"/>
          <p:nvPr/>
        </p:nvSpPr>
        <p:spPr>
          <a:xfrm>
            <a:off x="4498848" y="4078224"/>
            <a:ext cx="31638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Checkpoint 3-4</a:t>
            </a:r>
            <a:endParaRPr lang="en-US" sz="1700" dirty="0"/>
          </a:p>
        </p:txBody>
      </p:sp>
      <p:sp>
        <p:nvSpPr>
          <p:cNvPr id="32" name="Text 29"/>
          <p:cNvSpPr txBox="1"/>
          <p:nvPr/>
        </p:nvSpPr>
        <p:spPr>
          <a:xfrm>
            <a:off x="4498848" y="4498848"/>
            <a:ext cx="3163824" cy="14173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Tuning, 60-origin weekly backtest, model comparison, interval calibration, priority experiment, freeze, one-time holdout.</a:t>
            </a:r>
            <a:endParaRPr lang="en-US" sz="1400" dirty="0"/>
          </a:p>
        </p:txBody>
      </p:sp>
      <p:sp>
        <p:nvSpPr>
          <p:cNvPr id="33" name="card Checkpoint 5"/>
          <p:cNvSpPr/>
          <p:nvPr/>
        </p:nvSpPr>
        <p:spPr>
          <a:xfrm>
            <a:off x="8046720" y="3931920"/>
            <a:ext cx="3566160" cy="2103120"/>
          </a:xfrm>
          <a:prstGeom prst="roundRect">
            <a:avLst>
              <a:gd name="adj" fmla="val 3478"/>
            </a:avLst>
          </a:prstGeom>
          <a:solidFill>
            <a:srgbClr val="EEF3F3"/>
          </a:solidFill>
          <a:ln w="12700">
            <a:solidFill>
              <a:srgbClr val="EEF3F3"/>
            </a:solidFill>
            <a:prstDash val="solid"/>
          </a:ln>
        </p:spPr>
      </p:sp>
      <p:sp>
        <p:nvSpPr>
          <p:cNvPr id="34" name="Text 31"/>
          <p:cNvSpPr txBox="1"/>
          <p:nvPr/>
        </p:nvSpPr>
        <p:spPr>
          <a:xfrm>
            <a:off x="8247888" y="4078224"/>
            <a:ext cx="31638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Checkpoint 5</a:t>
            </a:r>
            <a:endParaRPr lang="en-US" sz="1700" dirty="0"/>
          </a:p>
        </p:txBody>
      </p:sp>
      <p:sp>
        <p:nvSpPr>
          <p:cNvPr id="35" name="Text 32"/>
          <p:cNvSpPr txBox="1"/>
          <p:nvPr/>
        </p:nvSpPr>
        <p:spPr>
          <a:xfrm>
            <a:off x="8247888" y="4498848"/>
            <a:ext cx="3163824" cy="14173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Company context in SQL, Power BI project (10 pages), 2-page memo, interview walkthrough, README, version locks.</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Step by step: every command we ran, in order</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11480"/>
                <a:gridCol w="5120640"/>
                <a:gridCol w="2971800"/>
                <a:gridCol w="25603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Command (from the project folder)</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did</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sha256sum data/raw/*.csv</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Verify raw downloads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3 / 3 match manifest</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scripts/run_sql.py sql/01_load_audit.sql --scope pilot | panel</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Load, join, audit; export model input</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Tables + model_input</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scripts/checkpoint1_verify.py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Compare SQL audit to supplied audit</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26 / 26 checks pass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tests/test_temporal.py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Leakage and metric tests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8 / 8 pass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scripts/checkpoint2_pilot.py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30-series pilot, 3 origins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ETS 0.630, LGBM 0.633, naive 0.821</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scripts/checkpoint3_tune.py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3 LightGBM settings, tuning origins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Tweedie 63 leaves chosen</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scripts/checkpoint3_backtest.py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60 weekly origins x 3 models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0 failures, ~27 min</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scripts/checkpoint3_evaluate.py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Model comparison + ranges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LightGBM chosen; 90.9% coverage</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scripts/checkpoint4_priority.py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Ranking rules; freeze choices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frozen_choices.json (your laptop)</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scripts/checkpoint4_holdout.py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One-time final 28-day test</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Crashed, fixed, rerun</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scripts/run_sql.py sql/02_analytics.sql --scope panel</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Recompute metrics in SQL</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SQL tables written</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scripts/reconcile.py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SQL vs Python comparison</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96 rows, 0 mismatches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scripts/run_sql.py sql/03_business_context.sql</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Company tables from full raw file</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59.2M series-days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scripts/build_dashboard_data.py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Dashboard tables + re-check</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351 / 351 match</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python powerbi/build_pbip.py</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Generate Power BI project</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100" dirty="0">
                          <a:solidFill>
                            <a:srgbClr val="1B2A2F"/>
                          </a:solidFill>
                          <a:latin typeface="Calibri" pitchFamily="34" charset="0"/>
                          <a:ea typeface="Calibri" pitchFamily="34" charset="-122"/>
                          <a:cs typeface="Calibri" pitchFamily="34" charset="-120"/>
                        </a:rPr>
                        <a:t>10 pages, 0 schema errors</a:t>
                      </a:r>
                      <a:endParaRPr lang="en-US" sz="11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Toolkit: what each tool was actually used for</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920240"/>
                <a:gridCol w="5852160"/>
                <a:gridCol w="329184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Used for</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DuckDB (SQL)</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Load prepared files, joins, key/total audits, model input export, independent metric recomputation</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CLI 1.4.1 here; Python duckdb 1.5.6 on your laptop</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pandas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Tables, group-by metrics, merges, result files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Used everywhere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numpy</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Sales arrays, features, hand-written ETS, scoring</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Used everywhere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LightGBM</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Global direct-horizon forecasting model</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4.6.0, official wheel</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statsmodels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Planned for ETS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Not installable here: ETS written in numpy</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scipy, scikit-learn</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Listed in requirements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Not used by final code: remove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Streamlit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Planned dashboard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Never run; dashboard moving to Power BI</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Python stdlib</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hashlib (freeze fingerprint), json, argparse, subprocess (DuckDB CLI)</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Used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SQL step 1: load, type and join the data</a:t>
            </a:r>
            <a:endParaRPr lang="en-US" sz="3200" dirty="0"/>
          </a:p>
        </p:txBody>
      </p:sp>
      <p:sp>
        <p:nvSpPr>
          <p:cNvPr id="4" name="code "/>
          <p:cNvSpPr/>
          <p:nvPr/>
        </p:nvSpPr>
        <p:spPr>
          <a:xfrm>
            <a:off x="548640" y="1325880"/>
            <a:ext cx="6766560" cy="4800600"/>
          </a:xfrm>
          <a:prstGeom prst="roundRect">
            <a:avLst>
              <a:gd name="adj" fmla="val 1143"/>
            </a:avLst>
          </a:prstGeom>
          <a:solidFill>
            <a:srgbClr val="17262A"/>
          </a:solidFill>
          <a:ln w="12700">
            <a:solidFill>
              <a:srgbClr val="17262A"/>
            </a:solidFill>
            <a:prstDash val="solid"/>
          </a:ln>
        </p:spPr>
      </p:sp>
      <p:sp>
        <p:nvSpPr>
          <p:cNvPr id="5" name="Text 2"/>
          <p:cNvSpPr txBox="1"/>
          <p:nvPr/>
        </p:nvSpPr>
        <p:spPr>
          <a:xfrm>
            <a:off x="731520" y="1463040"/>
            <a:ext cx="6400800" cy="4526280"/>
          </a:xfrm>
          <a:prstGeom prst="rect">
            <a:avLst/>
          </a:prstGeom>
          <a:noFill/>
          <a:ln/>
        </p:spPr>
        <p:txBody>
          <a:bodyPr wrap="square" lIns="0" tIns="0" rIns="0" bIns="0" rtlCol="0" anchor="t"/>
          <a:lstStyle/>
          <a:p>
            <a:pPr indent="0" marL="0">
              <a:buNone/>
            </a:pPr>
            <a:r>
              <a:rPr lang="en-US" sz="1200" dirty="0">
                <a:solidFill>
                  <a:srgbClr val="D8EBE6"/>
                </a:solidFill>
                <a:latin typeface="Courier New" pitchFamily="34" charset="0"/>
                <a:ea typeface="Courier New" pitchFamily="34" charset="-122"/>
                <a:cs typeface="Courier New" pitchFamily="34" charset="-120"/>
              </a:rPr>
              <a:t>CREATE OR REPLACE TABLE daily_sales AS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SELECT id, item_id, store_id, state_id, d,</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CAST(replace(d,'d_','') AS INTEGER) AS d_num,</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CAST(units AS INTEGER) AS units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FROM read_csv('data/prepared/daily_sales.csv.gz');</a:t>
            </a:r>
            <a:endParaRPr lang="en-US" sz="1200" dirty="0"/>
          </a:p>
          <a:p>
            <a:pPr indent="0" marL="0">
              <a:buNone/>
            </a:pP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wide file reshaped to long, to reconcile</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CREATE OR REPLACE TABLE wide_long AS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SELECT id, CAST(replace(d,'d_','') AS INTEGER) d_num, units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FROM (UNPIVOT sales_wide ON COLUMNS('^d_[0-9]+$')</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INTO NAME d VALUE units);</a:t>
            </a:r>
            <a:endParaRPr lang="en-US" sz="1200" dirty="0"/>
          </a:p>
          <a:p>
            <a:pPr indent="0" marL="0">
              <a:buNone/>
            </a:pP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CREATE OR REPLACE TABLE observed_history AS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SELECT s.*, c.wm_yr_wk, c.wday, c.event_type_1,</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CASE s.state_id WHEN 'CA' THEN c.snap_CA</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ELSE c.snap_TX END AS snap, p.sell_price</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FROM daily_sales 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LEFT JOIN calendar c ON s.d_num = c.d_num</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LEFT JOIN prices p ON s.store_id = p.store_id</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AND s.item_id = p.item_id AND c.wm_yr_wk = p.wm_yr_wk;</a:t>
            </a:r>
            <a:endParaRPr lang="en-US" sz="1200" dirty="0"/>
          </a:p>
        </p:txBody>
      </p:sp>
      <p:sp>
        <p:nvSpPr>
          <p:cNvPr id="6" name="card What &quot;cleaning&quot; meant here"/>
          <p:cNvSpPr/>
          <p:nvPr/>
        </p:nvSpPr>
        <p:spPr>
          <a:xfrm>
            <a:off x="7589520" y="1325880"/>
            <a:ext cx="4023360" cy="4800600"/>
          </a:xfrm>
          <a:prstGeom prst="roundRect">
            <a:avLst>
              <a:gd name="adj" fmla="val 1818"/>
            </a:avLst>
          </a:prstGeom>
          <a:solidFill>
            <a:srgbClr val="EEF3F3"/>
          </a:solidFill>
          <a:ln w="12700">
            <a:solidFill>
              <a:srgbClr val="EEF3F3"/>
            </a:solidFill>
            <a:prstDash val="solid"/>
          </a:ln>
        </p:spPr>
      </p:sp>
      <p:sp>
        <p:nvSpPr>
          <p:cNvPr id="7" name="Text 4"/>
          <p:cNvSpPr txBox="1"/>
          <p:nvPr/>
        </p:nvSpPr>
        <p:spPr>
          <a:xfrm>
            <a:off x="7790688" y="1472184"/>
            <a:ext cx="36210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What "cleaning" meant here</a:t>
            </a:r>
            <a:endParaRPr lang="en-US" sz="1700" dirty="0"/>
          </a:p>
        </p:txBody>
      </p:sp>
      <p:sp>
        <p:nvSpPr>
          <p:cNvPr id="8" name="Text 5"/>
          <p:cNvSpPr txBox="1"/>
          <p:nvPr/>
        </p:nvSpPr>
        <p:spPr>
          <a:xfrm>
            <a:off x="7790688" y="1892808"/>
            <a:ext cx="3621024" cy="411480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The prepared data was already clean: no missing or negative sales. SQL work was verification, not repair:</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consistent integer day keys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one row per series-day</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calendar + SNAP + price joined by key</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missing prices left missing (all are pre-launch weeks)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compact model input exported for Python (data/derived/model_input.csv.gz)</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SQL step 2: audit checks and their results</a:t>
            </a:r>
            <a:endParaRPr lang="en-US" sz="3200" dirty="0"/>
          </a:p>
        </p:txBody>
      </p:sp>
      <p:sp>
        <p:nvSpPr>
          <p:cNvPr id="4" name="code "/>
          <p:cNvSpPr/>
          <p:nvPr/>
        </p:nvSpPr>
        <p:spPr>
          <a:xfrm>
            <a:off x="548640" y="1325880"/>
            <a:ext cx="5394960" cy="4800600"/>
          </a:xfrm>
          <a:prstGeom prst="roundRect">
            <a:avLst>
              <a:gd name="adj" fmla="val 1143"/>
            </a:avLst>
          </a:prstGeom>
          <a:solidFill>
            <a:srgbClr val="17262A"/>
          </a:solidFill>
          <a:ln w="12700">
            <a:solidFill>
              <a:srgbClr val="17262A"/>
            </a:solidFill>
            <a:prstDash val="solid"/>
          </a:ln>
        </p:spPr>
      </p:sp>
      <p:sp>
        <p:nvSpPr>
          <p:cNvPr id="5" name="Text 2"/>
          <p:cNvSpPr txBox="1"/>
          <p:nvPr/>
        </p:nvSpPr>
        <p:spPr>
          <a:xfrm>
            <a:off x="731520" y="1463040"/>
            <a:ext cx="5029200" cy="4526280"/>
          </a:xfrm>
          <a:prstGeom prst="rect">
            <a:avLst/>
          </a:prstGeom>
          <a:noFill/>
          <a:ln/>
        </p:spPr>
        <p:txBody>
          <a:bodyPr wrap="square" lIns="0" tIns="0" rIns="0" bIns="0" rtlCol="0" anchor="t"/>
          <a:lstStyle/>
          <a:p>
            <a:pPr indent="0" marL="0">
              <a:buNone/>
            </a:pPr>
            <a:r>
              <a:rPr lang="en-US" sz="1200" dirty="0">
                <a:solidFill>
                  <a:srgbClr val="D8EBE6"/>
                </a:solidFill>
                <a:latin typeface="Courier New" pitchFamily="34" charset="0"/>
                <a:ea typeface="Courier New" pitchFamily="34" charset="-122"/>
                <a:cs typeface="Courier New" pitchFamily="34" charset="-120"/>
              </a:rPr>
              <a:t>dup AS (SELECT count(*) AS dup_id_day FROM</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(SELECT id, d_num FROM daily_sales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GROUP BY 1,2 HAVING count(*) &gt; 1)),</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wm AS (SELECT count(*) AS wide_long_mismatch</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FROM wide_long w FULL OUTER JOIN daily_sales 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ON w.id = s.id AND w.d_num = s.d_num</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WHERE w.units IS DISTINCT FROM s.units),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j AS (SELECT count(*) AS joined_rows,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sum(units) AS joined_units,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sum(CASE WHEN sell_price IS NULL</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AND units &gt; 0 THEN 1 ELSE 0 END)</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AS positive_sales_missing_price</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FROM observed_history)</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17920" y="1325880"/>
          <a:ext cx="5394960" cy="914400"/>
        </p:xfrm>
        <a:graphic>
          <a:graphicData uri="http://schemas.openxmlformats.org/drawingml/2006/table">
            <a:tbl>
              <a:tblPr/>
              <a:tblGrid>
                <a:gridCol w="3657600"/>
                <a:gridCol w="173736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Check (200-series panel)</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Rows = 200 series x 1,941 days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388,200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Total units (= supplied audit)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865,515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Duplicate series-day keys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Duplicate store-item-week prices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Wide vs long cell mismatches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Rows / units after joins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unchanged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Missing-price days (= audit)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22,253</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Sales on days without a price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Early selection stats vs metadata</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 mismatches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All checks, panel + pilot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26 / 26 pass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SQL step 3: independent recomputation of results</a:t>
            </a:r>
            <a:endParaRPr lang="en-US" sz="3200" dirty="0"/>
          </a:p>
        </p:txBody>
      </p:sp>
      <p:sp>
        <p:nvSpPr>
          <p:cNvPr id="4" name="code "/>
          <p:cNvSpPr/>
          <p:nvPr/>
        </p:nvSpPr>
        <p:spPr>
          <a:xfrm>
            <a:off x="548640" y="1325880"/>
            <a:ext cx="6035040" cy="3291840"/>
          </a:xfrm>
          <a:prstGeom prst="roundRect">
            <a:avLst>
              <a:gd name="adj" fmla="val 1667"/>
            </a:avLst>
          </a:prstGeom>
          <a:solidFill>
            <a:srgbClr val="17262A"/>
          </a:solidFill>
          <a:ln w="12700">
            <a:solidFill>
              <a:srgbClr val="17262A"/>
            </a:solidFill>
            <a:prstDash val="solid"/>
          </a:ln>
        </p:spPr>
      </p:sp>
      <p:sp>
        <p:nvSpPr>
          <p:cNvPr id="5" name="Text 2"/>
          <p:cNvSpPr txBox="1"/>
          <p:nvPr/>
        </p:nvSpPr>
        <p:spPr>
          <a:xfrm>
            <a:off x="731520" y="1463040"/>
            <a:ext cx="5669280" cy="3017520"/>
          </a:xfrm>
          <a:prstGeom prst="rect">
            <a:avLst/>
          </a:prstGeom>
          <a:noFill/>
          <a:ln/>
        </p:spPr>
        <p:txBody>
          <a:bodyPr wrap="square" lIns="0" tIns="0" rIns="0" bIns="0" rtlCol="0" anchor="t"/>
          <a:lstStyle/>
          <a:p>
            <a:pPr indent="0" marL="0">
              <a:buNone/>
            </a:pPr>
            <a:r>
              <a:rPr lang="en-US" sz="1200" dirty="0">
                <a:solidFill>
                  <a:srgbClr val="D8EBE6"/>
                </a:solidFill>
                <a:latin typeface="Courier New" pitchFamily="34" charset="0"/>
                <a:ea typeface="Courier New" pitchFamily="34" charset="-122"/>
                <a:cs typeface="Courier New" pitchFamily="34" charset="-120"/>
              </a:rPr>
              <a:t>SELECT period, model, segment_type, segment,</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sum(abs(forecast - y)) / nullif(sum(y),0) AS wape,</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sum(forecast - y)     / nullif(sum(y),0) AS bias</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FROM unioned GROUP BY ALL;</a:t>
            </a:r>
            <a:endParaRPr lang="en-US" sz="1200" dirty="0"/>
          </a:p>
          <a:p>
            <a:pPr indent="0" marL="0">
              <a:buNone/>
            </a:pP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SELECT period, model, origin, idx,</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sqrt(avg(power(forecast - y, 2))</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       / any_value(scale)) AS rmsse</a:t>
            </a:r>
            <a:endParaRPr lang="en-US" sz="1200" dirty="0"/>
          </a:p>
          <a:p>
            <a:pPr indent="0" marL="0">
              <a:buNone/>
            </a:pPr>
            <a:r>
              <a:rPr lang="en-US" sz="1200" dirty="0">
                <a:solidFill>
                  <a:srgbClr val="D8EBE6"/>
                </a:solidFill>
                <a:latin typeface="Courier New" pitchFamily="34" charset="0"/>
                <a:ea typeface="Courier New" pitchFamily="34" charset="-122"/>
                <a:cs typeface="Courier New" pitchFamily="34" charset="-120"/>
              </a:rPr>
              <a:t>FROM forecast_eval GROUP BY ALL;</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4800600"/>
          <a:ext cx="6035040" cy="914400"/>
        </p:xfrm>
        <a:graphic>
          <a:graphicData uri="http://schemas.openxmlformats.org/drawingml/2006/table">
            <a:tbl>
              <a:tblPr/>
              <a:tblGrid>
                <a:gridCol w="3017520"/>
                <a:gridCol w="30175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Guard / reconciliation</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Validation rows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100,800; days 1746-1913; 0 missing</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Holdout rows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16,800; days 1914-1941; 0 missing</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Forecast metric rows, SQL vs Python</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60 compared, 0 mismatches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Priority summary rows, SQL vs Python</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36 compared, 0 mismatches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bl>
          </a:graphicData>
        </a:graphic>
      </p:graphicFrame>
      <p:sp>
        <p:nvSpPr>
          <p:cNvPr id="7" name="card Why do it twice?"/>
          <p:cNvSpPr/>
          <p:nvPr/>
        </p:nvSpPr>
        <p:spPr>
          <a:xfrm>
            <a:off x="6858000" y="1325880"/>
            <a:ext cx="4754880" cy="4754880"/>
          </a:xfrm>
          <a:prstGeom prst="roundRect">
            <a:avLst>
              <a:gd name="adj" fmla="val 1538"/>
            </a:avLst>
          </a:prstGeom>
          <a:solidFill>
            <a:srgbClr val="EEF3F3"/>
          </a:solidFill>
          <a:ln w="12700">
            <a:solidFill>
              <a:srgbClr val="EEF3F3"/>
            </a:solidFill>
            <a:prstDash val="solid"/>
          </a:ln>
        </p:spPr>
      </p:sp>
      <p:sp>
        <p:nvSpPr>
          <p:cNvPr id="8" name="Text 4"/>
          <p:cNvSpPr txBox="1"/>
          <p:nvPr/>
        </p:nvSpPr>
        <p:spPr>
          <a:xfrm>
            <a:off x="7059168" y="1472184"/>
            <a:ext cx="43525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Why do it twice?</a:t>
            </a:r>
            <a:endParaRPr lang="en-US" sz="1700" dirty="0"/>
          </a:p>
        </p:txBody>
      </p:sp>
      <p:sp>
        <p:nvSpPr>
          <p:cNvPr id="9" name="Text 5"/>
          <p:cNvSpPr txBox="1"/>
          <p:nvPr/>
        </p:nvSpPr>
        <p:spPr>
          <a:xfrm>
            <a:off x="7059168" y="1892808"/>
            <a:ext cx="4352544" cy="406908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"Dashboard-to-result reconciliation" is a spec requirement. Two engines with independent code agreeing to 6 decimals is strong evidence that metrics were not mis-computed.</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nullif(sum(y),0) is the SQL form of the explicit rule "WAPE is undefined when actual sales are zero."</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Time rules: every forecast only sees its own past</a:t>
            </a:r>
            <a:endParaRPr lang="en-US" sz="3200" dirty="0"/>
          </a:p>
        </p:txBody>
      </p:sp>
      <p:sp>
        <p:nvSpPr>
          <p:cNvPr id="4" name="Text 1"/>
          <p:cNvSpPr txBox="1"/>
          <p:nvPr/>
        </p:nvSpPr>
        <p:spPr>
          <a:xfrm>
            <a:off x="548640" y="1417320"/>
            <a:ext cx="3291840" cy="384048"/>
          </a:xfrm>
          <a:prstGeom prst="rect">
            <a:avLst/>
          </a:prstGeom>
          <a:noFill/>
          <a:ln/>
        </p:spPr>
        <p:txBody>
          <a:bodyPr wrap="square" lIns="0" tIns="0" rIns="0" bIns="0" rtlCol="0" anchor="ctr"/>
          <a:lstStyle/>
          <a:p>
            <a:pPr indent="0" marL="0">
              <a:buNone/>
            </a:pPr>
            <a:r>
              <a:rPr lang="en-US" sz="1400" dirty="0">
                <a:solidFill>
                  <a:srgbClr val="1B2A2F"/>
                </a:solidFill>
              </a:rPr>
              <a:t>Panel selection</a:t>
            </a:r>
            <a:endParaRPr lang="en-US" sz="1400" dirty="0"/>
          </a:p>
        </p:txBody>
      </p:sp>
      <p:sp>
        <p:nvSpPr>
          <p:cNvPr id="5" name="lane 0"/>
          <p:cNvSpPr/>
          <p:nvPr/>
        </p:nvSpPr>
        <p:spPr>
          <a:xfrm>
            <a:off x="3931920" y="1572768"/>
            <a:ext cx="7589520" cy="73152"/>
          </a:xfrm>
          <a:prstGeom prst="rect">
            <a:avLst/>
          </a:prstGeom>
          <a:solidFill>
            <a:srgbClr val="EEF3F3"/>
          </a:solidFill>
          <a:ln w="12700">
            <a:solidFill>
              <a:srgbClr val="EEF3F3"/>
            </a:solidFill>
            <a:prstDash val="solid"/>
          </a:ln>
        </p:spPr>
      </p:sp>
      <p:sp>
        <p:nvSpPr>
          <p:cNvPr id="6" name="bar Panel selection"/>
          <p:cNvSpPr/>
          <p:nvPr/>
        </p:nvSpPr>
        <p:spPr>
          <a:xfrm>
            <a:off x="3931920" y="1472184"/>
            <a:ext cx="2851938" cy="274320"/>
          </a:xfrm>
          <a:prstGeom prst="rect">
            <a:avLst/>
          </a:prstGeom>
          <a:solidFill>
            <a:srgbClr val="9AA5A6"/>
          </a:solidFill>
          <a:ln w="12700">
            <a:solidFill>
              <a:srgbClr val="9AA5A6"/>
            </a:solidFill>
            <a:prstDash val="solid"/>
          </a:ln>
        </p:spPr>
      </p:sp>
      <p:sp>
        <p:nvSpPr>
          <p:cNvPr id="7" name="Text 4"/>
          <p:cNvSpPr txBox="1"/>
          <p:nvPr/>
        </p:nvSpPr>
        <p:spPr>
          <a:xfrm>
            <a:off x="2788920" y="1417320"/>
            <a:ext cx="1097280" cy="384048"/>
          </a:xfrm>
          <a:prstGeom prst="rect">
            <a:avLst/>
          </a:prstGeom>
          <a:noFill/>
          <a:ln/>
        </p:spPr>
        <p:txBody>
          <a:bodyPr wrap="square" lIns="0" tIns="0" rIns="0" bIns="0" rtlCol="0" anchor="ctr"/>
          <a:lstStyle/>
          <a:p>
            <a:pPr algn="r" indent="0" marL="0">
              <a:buNone/>
            </a:pPr>
            <a:r>
              <a:rPr lang="en-US" sz="1100" dirty="0">
                <a:solidFill>
                  <a:srgbClr val="5E6B6E"/>
                </a:solidFill>
              </a:rPr>
              <a:t>d1-730</a:t>
            </a:r>
            <a:endParaRPr lang="en-US" sz="1100" dirty="0"/>
          </a:p>
        </p:txBody>
      </p:sp>
      <p:sp>
        <p:nvSpPr>
          <p:cNvPr id="8" name="Text 5"/>
          <p:cNvSpPr txBox="1"/>
          <p:nvPr/>
        </p:nvSpPr>
        <p:spPr>
          <a:xfrm>
            <a:off x="548640" y="1965960"/>
            <a:ext cx="3291840" cy="384048"/>
          </a:xfrm>
          <a:prstGeom prst="rect">
            <a:avLst/>
          </a:prstGeom>
          <a:noFill/>
          <a:ln/>
        </p:spPr>
        <p:txBody>
          <a:bodyPr wrap="square" lIns="0" tIns="0" rIns="0" bIns="0" rtlCol="0" anchor="ctr"/>
          <a:lstStyle/>
          <a:p>
            <a:pPr indent="0" marL="0">
              <a:buNone/>
            </a:pPr>
            <a:r>
              <a:rPr lang="en-US" sz="1400" dirty="0">
                <a:solidFill>
                  <a:srgbClr val="1B2A2F"/>
                </a:solidFill>
              </a:rPr>
              <a:t>Error-history warm-up</a:t>
            </a:r>
            <a:endParaRPr lang="en-US" sz="1400" dirty="0"/>
          </a:p>
        </p:txBody>
      </p:sp>
      <p:sp>
        <p:nvSpPr>
          <p:cNvPr id="9" name="lane 1"/>
          <p:cNvSpPr/>
          <p:nvPr/>
        </p:nvSpPr>
        <p:spPr>
          <a:xfrm>
            <a:off x="3931920" y="2121408"/>
            <a:ext cx="7589520" cy="73152"/>
          </a:xfrm>
          <a:prstGeom prst="rect">
            <a:avLst/>
          </a:prstGeom>
          <a:solidFill>
            <a:srgbClr val="EEF3F3"/>
          </a:solidFill>
          <a:ln w="12700">
            <a:solidFill>
              <a:srgbClr val="EEF3F3"/>
            </a:solidFill>
            <a:prstDash val="solid"/>
          </a:ln>
        </p:spPr>
      </p:sp>
      <p:sp>
        <p:nvSpPr>
          <p:cNvPr id="10" name="bar Error-history warm-up"/>
          <p:cNvSpPr/>
          <p:nvPr/>
        </p:nvSpPr>
        <p:spPr>
          <a:xfrm>
            <a:off x="9772721" y="2020824"/>
            <a:ext cx="352091" cy="274320"/>
          </a:xfrm>
          <a:prstGeom prst="rect">
            <a:avLst/>
          </a:prstGeom>
          <a:solidFill>
            <a:srgbClr val="5B8E7D"/>
          </a:solidFill>
          <a:ln w="12700">
            <a:solidFill>
              <a:srgbClr val="5B8E7D"/>
            </a:solidFill>
            <a:prstDash val="solid"/>
          </a:ln>
        </p:spPr>
      </p:sp>
      <p:sp>
        <p:nvSpPr>
          <p:cNvPr id="11" name="Text 8"/>
          <p:cNvSpPr txBox="1"/>
          <p:nvPr/>
        </p:nvSpPr>
        <p:spPr>
          <a:xfrm>
            <a:off x="8629721" y="1965960"/>
            <a:ext cx="1097280" cy="384048"/>
          </a:xfrm>
          <a:prstGeom prst="rect">
            <a:avLst/>
          </a:prstGeom>
          <a:noFill/>
          <a:ln/>
        </p:spPr>
        <p:txBody>
          <a:bodyPr wrap="square" lIns="0" tIns="0" rIns="0" bIns="0" rtlCol="0" anchor="ctr"/>
          <a:lstStyle/>
          <a:p>
            <a:pPr algn="r" indent="0" marL="0">
              <a:buNone/>
            </a:pPr>
            <a:r>
              <a:rPr lang="en-US" sz="1100" dirty="0">
                <a:solidFill>
                  <a:srgbClr val="5E6B6E"/>
                </a:solidFill>
              </a:rPr>
              <a:t>d1494-1584</a:t>
            </a:r>
            <a:endParaRPr lang="en-US" sz="1100" dirty="0"/>
          </a:p>
        </p:txBody>
      </p:sp>
      <p:sp>
        <p:nvSpPr>
          <p:cNvPr id="12" name="Text 9"/>
          <p:cNvSpPr txBox="1"/>
          <p:nvPr/>
        </p:nvSpPr>
        <p:spPr>
          <a:xfrm>
            <a:off x="548640" y="2514600"/>
            <a:ext cx="3291840" cy="384048"/>
          </a:xfrm>
          <a:prstGeom prst="rect">
            <a:avLst/>
          </a:prstGeom>
          <a:noFill/>
          <a:ln/>
        </p:spPr>
        <p:txBody>
          <a:bodyPr wrap="square" lIns="0" tIns="0" rIns="0" bIns="0" rtlCol="0" anchor="ctr"/>
          <a:lstStyle/>
          <a:p>
            <a:pPr indent="0" marL="0">
              <a:buNone/>
            </a:pPr>
            <a:r>
              <a:rPr lang="en-US" sz="1400" dirty="0">
                <a:solidFill>
                  <a:srgbClr val="1B2A2F"/>
                </a:solidFill>
              </a:rPr>
              <a:t>Calibration (ranges, threshold)</a:t>
            </a:r>
            <a:endParaRPr lang="en-US" sz="1400" dirty="0"/>
          </a:p>
        </p:txBody>
      </p:sp>
      <p:sp>
        <p:nvSpPr>
          <p:cNvPr id="13" name="lane 2"/>
          <p:cNvSpPr/>
          <p:nvPr/>
        </p:nvSpPr>
        <p:spPr>
          <a:xfrm>
            <a:off x="3931920" y="2670048"/>
            <a:ext cx="7589520" cy="73152"/>
          </a:xfrm>
          <a:prstGeom prst="rect">
            <a:avLst/>
          </a:prstGeom>
          <a:solidFill>
            <a:srgbClr val="EEF3F3"/>
          </a:solidFill>
          <a:ln w="12700">
            <a:solidFill>
              <a:srgbClr val="EEF3F3"/>
            </a:solidFill>
            <a:prstDash val="solid"/>
          </a:ln>
        </p:spPr>
      </p:sp>
      <p:sp>
        <p:nvSpPr>
          <p:cNvPr id="14" name="bar Calibration (ranges, threshold)"/>
          <p:cNvSpPr/>
          <p:nvPr/>
        </p:nvSpPr>
        <p:spPr>
          <a:xfrm>
            <a:off x="10128724" y="2569464"/>
            <a:ext cx="324706" cy="274320"/>
          </a:xfrm>
          <a:prstGeom prst="rect">
            <a:avLst/>
          </a:prstGeom>
          <a:solidFill>
            <a:srgbClr val="5B8E7D"/>
          </a:solidFill>
          <a:ln w="12700">
            <a:solidFill>
              <a:srgbClr val="5B8E7D"/>
            </a:solidFill>
            <a:prstDash val="solid"/>
          </a:ln>
        </p:spPr>
      </p:sp>
      <p:sp>
        <p:nvSpPr>
          <p:cNvPr id="15" name="Text 12"/>
          <p:cNvSpPr txBox="1"/>
          <p:nvPr/>
        </p:nvSpPr>
        <p:spPr>
          <a:xfrm>
            <a:off x="8985724" y="2514600"/>
            <a:ext cx="1097280" cy="384048"/>
          </a:xfrm>
          <a:prstGeom prst="rect">
            <a:avLst/>
          </a:prstGeom>
          <a:noFill/>
          <a:ln/>
        </p:spPr>
        <p:txBody>
          <a:bodyPr wrap="square" lIns="0" tIns="0" rIns="0" bIns="0" rtlCol="0" anchor="ctr"/>
          <a:lstStyle/>
          <a:p>
            <a:pPr algn="r" indent="0" marL="0">
              <a:buNone/>
            </a:pPr>
            <a:r>
              <a:rPr lang="en-US" sz="1100" dirty="0">
                <a:solidFill>
                  <a:srgbClr val="5E6B6E"/>
                </a:solidFill>
              </a:rPr>
              <a:t>d1585-1668</a:t>
            </a:r>
            <a:endParaRPr lang="en-US" sz="1100" dirty="0"/>
          </a:p>
        </p:txBody>
      </p:sp>
      <p:sp>
        <p:nvSpPr>
          <p:cNvPr id="16" name="Text 13"/>
          <p:cNvSpPr txBox="1"/>
          <p:nvPr/>
        </p:nvSpPr>
        <p:spPr>
          <a:xfrm>
            <a:off x="548640" y="3063240"/>
            <a:ext cx="3291840" cy="384048"/>
          </a:xfrm>
          <a:prstGeom prst="rect">
            <a:avLst/>
          </a:prstGeom>
          <a:noFill/>
          <a:ln/>
        </p:spPr>
        <p:txBody>
          <a:bodyPr wrap="square" lIns="0" tIns="0" rIns="0" bIns="0" rtlCol="0" anchor="ctr"/>
          <a:lstStyle/>
          <a:p>
            <a:pPr indent="0" marL="0">
              <a:buNone/>
            </a:pPr>
            <a:r>
              <a:rPr lang="en-US" sz="1400" dirty="0">
                <a:solidFill>
                  <a:srgbClr val="1B2A2F"/>
                </a:solidFill>
              </a:rPr>
              <a:t>LightGBM tuning windows</a:t>
            </a:r>
            <a:endParaRPr lang="en-US" sz="1400" dirty="0"/>
          </a:p>
        </p:txBody>
      </p:sp>
      <p:sp>
        <p:nvSpPr>
          <p:cNvPr id="17" name="lane 3"/>
          <p:cNvSpPr/>
          <p:nvPr/>
        </p:nvSpPr>
        <p:spPr>
          <a:xfrm>
            <a:off x="3931920" y="3218688"/>
            <a:ext cx="7589520" cy="73152"/>
          </a:xfrm>
          <a:prstGeom prst="rect">
            <a:avLst/>
          </a:prstGeom>
          <a:solidFill>
            <a:srgbClr val="EEF3F3"/>
          </a:solidFill>
          <a:ln w="12700">
            <a:solidFill>
              <a:srgbClr val="EEF3F3"/>
            </a:solidFill>
            <a:prstDash val="solid"/>
          </a:ln>
        </p:spPr>
      </p:sp>
      <p:sp>
        <p:nvSpPr>
          <p:cNvPr id="18" name="bar LightGBM tuning windows"/>
          <p:cNvSpPr/>
          <p:nvPr/>
        </p:nvSpPr>
        <p:spPr>
          <a:xfrm>
            <a:off x="10429957" y="3118104"/>
            <a:ext cx="324706" cy="274320"/>
          </a:xfrm>
          <a:prstGeom prst="rect">
            <a:avLst/>
          </a:prstGeom>
          <a:solidFill>
            <a:srgbClr val="3D5A80"/>
          </a:solidFill>
          <a:ln w="12700">
            <a:solidFill>
              <a:srgbClr val="3D5A80"/>
            </a:solidFill>
            <a:prstDash val="solid"/>
          </a:ln>
        </p:spPr>
      </p:sp>
      <p:sp>
        <p:nvSpPr>
          <p:cNvPr id="19" name="Text 16"/>
          <p:cNvSpPr txBox="1"/>
          <p:nvPr/>
        </p:nvSpPr>
        <p:spPr>
          <a:xfrm>
            <a:off x="9286957" y="3063240"/>
            <a:ext cx="1097280" cy="384048"/>
          </a:xfrm>
          <a:prstGeom prst="rect">
            <a:avLst/>
          </a:prstGeom>
          <a:noFill/>
          <a:ln/>
        </p:spPr>
        <p:txBody>
          <a:bodyPr wrap="square" lIns="0" tIns="0" rIns="0" bIns="0" rtlCol="0" anchor="ctr"/>
          <a:lstStyle/>
          <a:p>
            <a:pPr algn="r" indent="0" marL="0">
              <a:buNone/>
            </a:pPr>
            <a:r>
              <a:rPr lang="en-US" sz="1100" dirty="0">
                <a:solidFill>
                  <a:srgbClr val="5E6B6E"/>
                </a:solidFill>
              </a:rPr>
              <a:t>d1662-1745</a:t>
            </a:r>
            <a:endParaRPr lang="en-US" sz="1100" dirty="0"/>
          </a:p>
        </p:txBody>
      </p:sp>
      <p:sp>
        <p:nvSpPr>
          <p:cNvPr id="20" name="Text 17"/>
          <p:cNvSpPr txBox="1"/>
          <p:nvPr/>
        </p:nvSpPr>
        <p:spPr>
          <a:xfrm>
            <a:off x="548640" y="3611880"/>
            <a:ext cx="3291840" cy="384048"/>
          </a:xfrm>
          <a:prstGeom prst="rect">
            <a:avLst/>
          </a:prstGeom>
          <a:noFill/>
          <a:ln/>
        </p:spPr>
        <p:txBody>
          <a:bodyPr wrap="square" lIns="0" tIns="0" rIns="0" bIns="0" rtlCol="0" anchor="ctr"/>
          <a:lstStyle/>
          <a:p>
            <a:pPr indent="0" marL="0">
              <a:buNone/>
            </a:pPr>
            <a:r>
              <a:rPr lang="en-US" sz="1400" dirty="0">
                <a:solidFill>
                  <a:srgbClr val="1B2A2F"/>
                </a:solidFill>
              </a:rPr>
              <a:t>Priority validation (35 weeks)</a:t>
            </a:r>
            <a:endParaRPr lang="en-US" sz="1400" dirty="0"/>
          </a:p>
        </p:txBody>
      </p:sp>
      <p:sp>
        <p:nvSpPr>
          <p:cNvPr id="21" name="lane 4"/>
          <p:cNvSpPr/>
          <p:nvPr/>
        </p:nvSpPr>
        <p:spPr>
          <a:xfrm>
            <a:off x="3931920" y="3767328"/>
            <a:ext cx="7589520" cy="73152"/>
          </a:xfrm>
          <a:prstGeom prst="rect">
            <a:avLst/>
          </a:prstGeom>
          <a:solidFill>
            <a:srgbClr val="EEF3F3"/>
          </a:solidFill>
          <a:ln w="12700">
            <a:solidFill>
              <a:srgbClr val="EEF3F3"/>
            </a:solidFill>
            <a:prstDash val="solid"/>
          </a:ln>
        </p:spPr>
      </p:sp>
      <p:sp>
        <p:nvSpPr>
          <p:cNvPr id="22" name="bar Priority validation (35 weeks)"/>
          <p:cNvSpPr/>
          <p:nvPr/>
        </p:nvSpPr>
        <p:spPr>
          <a:xfrm>
            <a:off x="10457342" y="3666744"/>
            <a:ext cx="954558" cy="274320"/>
          </a:xfrm>
          <a:prstGeom prst="rect">
            <a:avLst/>
          </a:prstGeom>
          <a:solidFill>
            <a:srgbClr val="0F7173"/>
          </a:solidFill>
          <a:ln w="12700">
            <a:solidFill>
              <a:srgbClr val="0F7173"/>
            </a:solidFill>
            <a:prstDash val="solid"/>
          </a:ln>
        </p:spPr>
      </p:sp>
      <p:sp>
        <p:nvSpPr>
          <p:cNvPr id="23" name="Text 20"/>
          <p:cNvSpPr txBox="1"/>
          <p:nvPr/>
        </p:nvSpPr>
        <p:spPr>
          <a:xfrm>
            <a:off x="9314342" y="3611880"/>
            <a:ext cx="1097280" cy="384048"/>
          </a:xfrm>
          <a:prstGeom prst="rect">
            <a:avLst/>
          </a:prstGeom>
          <a:noFill/>
          <a:ln/>
        </p:spPr>
        <p:txBody>
          <a:bodyPr wrap="square" lIns="0" tIns="0" rIns="0" bIns="0" rtlCol="0" anchor="ctr"/>
          <a:lstStyle/>
          <a:p>
            <a:pPr algn="r" indent="0" marL="0">
              <a:buNone/>
            </a:pPr>
            <a:r>
              <a:rPr lang="en-US" sz="1100" dirty="0">
                <a:solidFill>
                  <a:srgbClr val="5E6B6E"/>
                </a:solidFill>
              </a:rPr>
              <a:t>d1669-1913</a:t>
            </a:r>
            <a:endParaRPr lang="en-US" sz="1100" dirty="0"/>
          </a:p>
        </p:txBody>
      </p:sp>
      <p:sp>
        <p:nvSpPr>
          <p:cNvPr id="24" name="Text 21"/>
          <p:cNvSpPr txBox="1"/>
          <p:nvPr/>
        </p:nvSpPr>
        <p:spPr>
          <a:xfrm>
            <a:off x="548640" y="4160520"/>
            <a:ext cx="3291840" cy="384048"/>
          </a:xfrm>
          <a:prstGeom prst="rect">
            <a:avLst/>
          </a:prstGeom>
          <a:noFill/>
          <a:ln/>
        </p:spPr>
        <p:txBody>
          <a:bodyPr wrap="square" lIns="0" tIns="0" rIns="0" bIns="0" rtlCol="0" anchor="ctr"/>
          <a:lstStyle/>
          <a:p>
            <a:pPr indent="0" marL="0">
              <a:buNone/>
            </a:pPr>
            <a:r>
              <a:rPr lang="en-US" sz="1400" dirty="0">
                <a:solidFill>
                  <a:srgbClr val="1B2A2F"/>
                </a:solidFill>
              </a:rPr>
              <a:t>Forecast validation (6 x 28 days)</a:t>
            </a:r>
            <a:endParaRPr lang="en-US" sz="1400" dirty="0"/>
          </a:p>
        </p:txBody>
      </p:sp>
      <p:sp>
        <p:nvSpPr>
          <p:cNvPr id="25" name="lane 5"/>
          <p:cNvSpPr/>
          <p:nvPr/>
        </p:nvSpPr>
        <p:spPr>
          <a:xfrm>
            <a:off x="3931920" y="4315968"/>
            <a:ext cx="7589520" cy="73152"/>
          </a:xfrm>
          <a:prstGeom prst="rect">
            <a:avLst/>
          </a:prstGeom>
          <a:solidFill>
            <a:srgbClr val="EEF3F3"/>
          </a:solidFill>
          <a:ln w="12700">
            <a:solidFill>
              <a:srgbClr val="EEF3F3"/>
            </a:solidFill>
            <a:prstDash val="solid"/>
          </a:ln>
        </p:spPr>
      </p:sp>
      <p:sp>
        <p:nvSpPr>
          <p:cNvPr id="26" name="bar Forecast validation (6 x 28 days)"/>
          <p:cNvSpPr/>
          <p:nvPr/>
        </p:nvSpPr>
        <p:spPr>
          <a:xfrm>
            <a:off x="10758576" y="4215384"/>
            <a:ext cx="653325" cy="274320"/>
          </a:xfrm>
          <a:prstGeom prst="rect">
            <a:avLst/>
          </a:prstGeom>
          <a:solidFill>
            <a:srgbClr val="0F7173"/>
          </a:solidFill>
          <a:ln w="12700">
            <a:solidFill>
              <a:srgbClr val="0F7173"/>
            </a:solidFill>
            <a:prstDash val="solid"/>
          </a:ln>
        </p:spPr>
      </p:sp>
      <p:sp>
        <p:nvSpPr>
          <p:cNvPr id="27" name="Text 24"/>
          <p:cNvSpPr txBox="1"/>
          <p:nvPr/>
        </p:nvSpPr>
        <p:spPr>
          <a:xfrm>
            <a:off x="9615576" y="4160520"/>
            <a:ext cx="1097280" cy="384048"/>
          </a:xfrm>
          <a:prstGeom prst="rect">
            <a:avLst/>
          </a:prstGeom>
          <a:noFill/>
          <a:ln/>
        </p:spPr>
        <p:txBody>
          <a:bodyPr wrap="square" lIns="0" tIns="0" rIns="0" bIns="0" rtlCol="0" anchor="ctr"/>
          <a:lstStyle/>
          <a:p>
            <a:pPr algn="r" indent="0" marL="0">
              <a:buNone/>
            </a:pPr>
            <a:r>
              <a:rPr lang="en-US" sz="1100" dirty="0">
                <a:solidFill>
                  <a:srgbClr val="5E6B6E"/>
                </a:solidFill>
              </a:rPr>
              <a:t>d1746-1913</a:t>
            </a:r>
            <a:endParaRPr lang="en-US" sz="1100" dirty="0"/>
          </a:p>
        </p:txBody>
      </p:sp>
      <p:sp>
        <p:nvSpPr>
          <p:cNvPr id="28" name="Text 25"/>
          <p:cNvSpPr txBox="1"/>
          <p:nvPr/>
        </p:nvSpPr>
        <p:spPr>
          <a:xfrm>
            <a:off x="548640" y="4709160"/>
            <a:ext cx="3291840" cy="384048"/>
          </a:xfrm>
          <a:prstGeom prst="rect">
            <a:avLst/>
          </a:prstGeom>
          <a:noFill/>
          <a:ln/>
        </p:spPr>
        <p:txBody>
          <a:bodyPr wrap="square" lIns="0" tIns="0" rIns="0" bIns="0" rtlCol="0" anchor="ctr"/>
          <a:lstStyle/>
          <a:p>
            <a:pPr indent="0" marL="0">
              <a:buNone/>
            </a:pPr>
            <a:r>
              <a:rPr lang="en-US" sz="1400" dirty="0">
                <a:solidFill>
                  <a:srgbClr val="1B2A2F"/>
                </a:solidFill>
              </a:rPr>
              <a:t>Final holdout (sealed, used once)</a:t>
            </a:r>
            <a:endParaRPr lang="en-US" sz="1400" dirty="0"/>
          </a:p>
        </p:txBody>
      </p:sp>
      <p:sp>
        <p:nvSpPr>
          <p:cNvPr id="29" name="lane 6"/>
          <p:cNvSpPr/>
          <p:nvPr/>
        </p:nvSpPr>
        <p:spPr>
          <a:xfrm>
            <a:off x="3931920" y="4864608"/>
            <a:ext cx="7589520" cy="73152"/>
          </a:xfrm>
          <a:prstGeom prst="rect">
            <a:avLst/>
          </a:prstGeom>
          <a:solidFill>
            <a:srgbClr val="EEF3F3"/>
          </a:solidFill>
          <a:ln w="12700">
            <a:solidFill>
              <a:srgbClr val="EEF3F3"/>
            </a:solidFill>
            <a:prstDash val="solid"/>
          </a:ln>
        </p:spPr>
      </p:sp>
      <p:sp>
        <p:nvSpPr>
          <p:cNvPr id="30" name="bar Final holdout (sealed, used once)"/>
          <p:cNvSpPr/>
          <p:nvPr/>
        </p:nvSpPr>
        <p:spPr>
          <a:xfrm>
            <a:off x="11415813" y="4764024"/>
            <a:ext cx="105627" cy="274320"/>
          </a:xfrm>
          <a:prstGeom prst="rect">
            <a:avLst/>
          </a:prstGeom>
          <a:solidFill>
            <a:srgbClr val="B5544A"/>
          </a:solidFill>
          <a:ln w="12700">
            <a:solidFill>
              <a:srgbClr val="B5544A"/>
            </a:solidFill>
            <a:prstDash val="solid"/>
          </a:ln>
        </p:spPr>
      </p:sp>
      <p:sp>
        <p:nvSpPr>
          <p:cNvPr id="31" name="Text 28"/>
          <p:cNvSpPr txBox="1"/>
          <p:nvPr/>
        </p:nvSpPr>
        <p:spPr>
          <a:xfrm>
            <a:off x="10272813" y="4709160"/>
            <a:ext cx="1097280" cy="384048"/>
          </a:xfrm>
          <a:prstGeom prst="rect">
            <a:avLst/>
          </a:prstGeom>
          <a:noFill/>
          <a:ln/>
        </p:spPr>
        <p:txBody>
          <a:bodyPr wrap="square" lIns="0" tIns="0" rIns="0" bIns="0" rtlCol="0" anchor="ctr"/>
          <a:lstStyle/>
          <a:p>
            <a:pPr algn="r" indent="0" marL="0">
              <a:buNone/>
            </a:pPr>
            <a:r>
              <a:rPr lang="en-US" sz="1100" dirty="0">
                <a:solidFill>
                  <a:srgbClr val="5E6B6E"/>
                </a:solidFill>
              </a:rPr>
              <a:t>d1914-1941</a:t>
            </a:r>
            <a:endParaRPr lang="en-US" sz="1100" dirty="0"/>
          </a:p>
        </p:txBody>
      </p:sp>
      <p:sp>
        <p:nvSpPr>
          <p:cNvPr id="32" name="Text 29"/>
          <p:cNvSpPr txBox="1"/>
          <p:nvPr/>
        </p:nvSpPr>
        <p:spPr>
          <a:xfrm>
            <a:off x="3749040" y="5349240"/>
            <a:ext cx="548640" cy="274320"/>
          </a:xfrm>
          <a:prstGeom prst="rect">
            <a:avLst/>
          </a:prstGeom>
          <a:noFill/>
          <a:ln/>
        </p:spPr>
        <p:txBody>
          <a:bodyPr wrap="square" lIns="0" tIns="0" rIns="0" bIns="0" rtlCol="0" anchor="t"/>
          <a:lstStyle/>
          <a:p>
            <a:pPr indent="0" marL="0">
              <a:spcAft>
                <a:spcPts val="600"/>
              </a:spcAft>
              <a:buNone/>
            </a:pPr>
            <a:r>
              <a:rPr lang="en-US" sz="1100" dirty="0">
                <a:solidFill>
                  <a:srgbClr val="5E6B6E"/>
                </a:solidFill>
                <a:latin typeface="Calibri" pitchFamily="34" charset="0"/>
                <a:ea typeface="Calibri" pitchFamily="34" charset="-122"/>
                <a:cs typeface="Calibri" pitchFamily="34" charset="-120"/>
              </a:rPr>
              <a:t>2011</a:t>
            </a:r>
            <a:endParaRPr lang="en-US" sz="1100" dirty="0"/>
          </a:p>
        </p:txBody>
      </p:sp>
      <p:sp>
        <p:nvSpPr>
          <p:cNvPr id="33" name="Text 30"/>
          <p:cNvSpPr txBox="1"/>
          <p:nvPr/>
        </p:nvSpPr>
        <p:spPr>
          <a:xfrm>
            <a:off x="10698480" y="5349240"/>
            <a:ext cx="914400" cy="274320"/>
          </a:xfrm>
          <a:prstGeom prst="rect">
            <a:avLst/>
          </a:prstGeom>
          <a:noFill/>
          <a:ln/>
        </p:spPr>
        <p:txBody>
          <a:bodyPr wrap="square" lIns="0" tIns="0" rIns="0" bIns="0" rtlCol="0" anchor="t"/>
          <a:lstStyle/>
          <a:p>
            <a:pPr algn="r" indent="0" marL="0">
              <a:spcAft>
                <a:spcPts val="600"/>
              </a:spcAft>
              <a:buNone/>
            </a:pPr>
            <a:r>
              <a:rPr lang="en-US" sz="1100" dirty="0">
                <a:solidFill>
                  <a:srgbClr val="5E6B6E"/>
                </a:solidFill>
                <a:latin typeface="Calibri" pitchFamily="34" charset="0"/>
                <a:ea typeface="Calibri" pitchFamily="34" charset="-122"/>
                <a:cs typeface="Calibri" pitchFamily="34" charset="-120"/>
              </a:rPr>
              <a:t>May 2016</a:t>
            </a:r>
            <a:endParaRPr lang="en-US" sz="1100" dirty="0"/>
          </a:p>
        </p:txBody>
      </p:sp>
      <p:sp>
        <p:nvSpPr>
          <p:cNvPr id="34" name="Text 31"/>
          <p:cNvSpPr txBox="1"/>
          <p:nvPr/>
        </p:nvSpPr>
        <p:spPr>
          <a:xfrm>
            <a:off x="548640" y="5715000"/>
            <a:ext cx="11064240" cy="502920"/>
          </a:xfrm>
          <a:prstGeom prst="rect">
            <a:avLst/>
          </a:prstGeom>
          <a:noFill/>
          <a:ln/>
        </p:spPr>
        <p:txBody>
          <a:bodyPr wrap="square" lIns="0" tIns="0" rIns="0" bIns="0" rtlCol="0" anchor="t"/>
          <a:lstStyle/>
          <a:p>
            <a:pPr indent="0" marL="0">
              <a:spcAft>
                <a:spcPts val="600"/>
              </a:spcAft>
              <a:buNone/>
            </a:pPr>
            <a:r>
              <a:rPr lang="en-US" sz="1400" i="1" dirty="0">
                <a:solidFill>
                  <a:srgbClr val="0E3B43"/>
                </a:solidFill>
                <a:latin typeface="Calibri" pitchFamily="34" charset="0"/>
                <a:ea typeface="Calibri" pitchFamily="34" charset="-122"/>
                <a:cs typeface="Calibri" pitchFamily="34" charset="-120"/>
              </a:rPr>
              <a:t>LightGBM is refit at every weekly origin on the previous 104 weeks, keeping only training targets dated on or before that origin.</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Leakage and correctness checks (8 automated tests)</a:t>
            </a:r>
            <a:endParaRPr lang="en-US" sz="3200" dirty="0"/>
          </a:p>
        </p:txBody>
      </p:sp>
      <p:sp>
        <p:nvSpPr>
          <p:cNvPr id="4" name="check 0"/>
          <p:cNvSpPr/>
          <p:nvPr/>
        </p:nvSpPr>
        <p:spPr>
          <a:xfrm>
            <a:off x="548640" y="1444752"/>
            <a:ext cx="457200" cy="457200"/>
          </a:xfrm>
          <a:prstGeom prst="ellipse">
            <a:avLst/>
          </a:prstGeom>
          <a:solidFill>
            <a:srgbClr val="0F7173"/>
          </a:solidFill>
          <a:ln w="12700">
            <a:solidFill>
              <a:srgbClr val="0F7173"/>
            </a:solidFill>
            <a:prstDash val="solid"/>
          </a:ln>
        </p:spPr>
      </p:sp>
      <p:sp>
        <p:nvSpPr>
          <p:cNvPr id="5" name="Text 2"/>
          <p:cNvSpPr txBox="1"/>
          <p:nvPr/>
        </p:nvSpPr>
        <p:spPr>
          <a:xfrm>
            <a:off x="548640" y="14447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Text 3"/>
          <p:cNvSpPr txBox="1"/>
          <p:nvPr/>
        </p:nvSpPr>
        <p:spPr>
          <a:xfrm>
            <a:off x="1188720" y="1371600"/>
            <a:ext cx="4754880" cy="365760"/>
          </a:xfrm>
          <a:prstGeom prst="rect">
            <a:avLst/>
          </a:prstGeom>
          <a:noFill/>
          <a:ln/>
        </p:spPr>
        <p:txBody>
          <a:bodyPr wrap="square" lIns="0" tIns="0" rIns="0" bIns="0" rtlCol="0" anchor="ctr"/>
          <a:lstStyle/>
          <a:p>
            <a:pPr indent="0" marL="0">
              <a:buNone/>
            </a:pPr>
            <a:r>
              <a:rPr lang="en-US" sz="1600" b="1" dirty="0">
                <a:solidFill>
                  <a:srgbClr val="0E3B43"/>
                </a:solidFill>
                <a:latin typeface="Cambria" pitchFamily="34" charset="0"/>
                <a:ea typeface="Cambria" pitchFamily="34" charset="-122"/>
                <a:cs typeface="Cambria" pitchFamily="34" charset="-120"/>
              </a:rPr>
              <a:t>Holdout sealed</a:t>
            </a:r>
            <a:endParaRPr lang="en-US" sz="1600" dirty="0"/>
          </a:p>
        </p:txBody>
      </p:sp>
      <p:sp>
        <p:nvSpPr>
          <p:cNvPr id="7" name="Text 4"/>
          <p:cNvSpPr txBox="1"/>
          <p:nvPr/>
        </p:nvSpPr>
        <p:spPr>
          <a:xfrm>
            <a:off x="1188720" y="1755648"/>
            <a:ext cx="4754880" cy="685800"/>
          </a:xfrm>
          <a:prstGeom prst="rect">
            <a:avLst/>
          </a:prstGeom>
          <a:noFill/>
          <a:ln/>
        </p:spPr>
        <p:txBody>
          <a:bodyPr wrap="square" lIns="0" tIns="0" rIns="0" bIns="0" rtlCol="0" anchor="t"/>
          <a:lstStyle/>
          <a:p>
            <a:pPr indent="0" marL="0">
              <a:buNone/>
            </a:pPr>
            <a:r>
              <a:rPr lang="en-US" sz="1400" dirty="0">
                <a:solidFill>
                  <a:srgbClr val="1B2A2F"/>
                </a:solidFill>
              </a:rPr>
              <a:t>Final 28 days are missing in pre-holdout runs; asking for them errors</a:t>
            </a:r>
            <a:endParaRPr lang="en-US" sz="1400" dirty="0"/>
          </a:p>
        </p:txBody>
      </p:sp>
      <p:sp>
        <p:nvSpPr>
          <p:cNvPr id="8" name="check 1"/>
          <p:cNvSpPr/>
          <p:nvPr/>
        </p:nvSpPr>
        <p:spPr>
          <a:xfrm>
            <a:off x="6172200" y="1444752"/>
            <a:ext cx="457200" cy="457200"/>
          </a:xfrm>
          <a:prstGeom prst="ellipse">
            <a:avLst/>
          </a:prstGeom>
          <a:solidFill>
            <a:srgbClr val="0F7173"/>
          </a:solidFill>
          <a:ln w="12700">
            <a:solidFill>
              <a:srgbClr val="0F7173"/>
            </a:solidFill>
            <a:prstDash val="solid"/>
          </a:ln>
        </p:spPr>
      </p:sp>
      <p:sp>
        <p:nvSpPr>
          <p:cNvPr id="9" name="Text 6"/>
          <p:cNvSpPr txBox="1"/>
          <p:nvPr/>
        </p:nvSpPr>
        <p:spPr>
          <a:xfrm>
            <a:off x="6172200" y="14447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0" name="Text 7"/>
          <p:cNvSpPr txBox="1"/>
          <p:nvPr/>
        </p:nvSpPr>
        <p:spPr>
          <a:xfrm>
            <a:off x="6812280" y="1371600"/>
            <a:ext cx="4754880" cy="365760"/>
          </a:xfrm>
          <a:prstGeom prst="rect">
            <a:avLst/>
          </a:prstGeom>
          <a:noFill/>
          <a:ln/>
        </p:spPr>
        <p:txBody>
          <a:bodyPr wrap="square" lIns="0" tIns="0" rIns="0" bIns="0" rtlCol="0" anchor="ctr"/>
          <a:lstStyle/>
          <a:p>
            <a:pPr indent="0" marL="0">
              <a:buNone/>
            </a:pPr>
            <a:r>
              <a:rPr lang="en-US" sz="1600" b="1" dirty="0">
                <a:solidFill>
                  <a:srgbClr val="0E3B43"/>
                </a:solidFill>
                <a:latin typeface="Cambria" pitchFamily="34" charset="0"/>
                <a:ea typeface="Cambria" pitchFamily="34" charset="-122"/>
                <a:cs typeface="Cambria" pitchFamily="34" charset="-120"/>
              </a:rPr>
              <a:t>Future scramble</a:t>
            </a:r>
            <a:endParaRPr lang="en-US" sz="1600" dirty="0"/>
          </a:p>
        </p:txBody>
      </p:sp>
      <p:sp>
        <p:nvSpPr>
          <p:cNvPr id="11" name="Text 8"/>
          <p:cNvSpPr txBox="1"/>
          <p:nvPr/>
        </p:nvSpPr>
        <p:spPr>
          <a:xfrm>
            <a:off x="6812280" y="1755648"/>
            <a:ext cx="4754880" cy="685800"/>
          </a:xfrm>
          <a:prstGeom prst="rect">
            <a:avLst/>
          </a:prstGeom>
          <a:noFill/>
          <a:ln/>
        </p:spPr>
        <p:txBody>
          <a:bodyPr wrap="square" lIns="0" tIns="0" rIns="0" bIns="0" rtlCol="0" anchor="t"/>
          <a:lstStyle/>
          <a:p>
            <a:pPr indent="0" marL="0">
              <a:buNone/>
            </a:pPr>
            <a:r>
              <a:rPr lang="en-US" sz="1400" dirty="0">
                <a:solidFill>
                  <a:srgbClr val="1B2A2F"/>
                </a:solidFill>
              </a:rPr>
              <a:t>Random future sales and prices leave every feature identical</a:t>
            </a:r>
            <a:endParaRPr lang="en-US" sz="1400" dirty="0"/>
          </a:p>
        </p:txBody>
      </p:sp>
      <p:sp>
        <p:nvSpPr>
          <p:cNvPr id="12" name="check 2"/>
          <p:cNvSpPr/>
          <p:nvPr/>
        </p:nvSpPr>
        <p:spPr>
          <a:xfrm>
            <a:off x="548640" y="2633472"/>
            <a:ext cx="457200" cy="457200"/>
          </a:xfrm>
          <a:prstGeom prst="ellipse">
            <a:avLst/>
          </a:prstGeom>
          <a:solidFill>
            <a:srgbClr val="0F7173"/>
          </a:solidFill>
          <a:ln w="12700">
            <a:solidFill>
              <a:srgbClr val="0F7173"/>
            </a:solidFill>
            <a:prstDash val="solid"/>
          </a:ln>
        </p:spPr>
      </p:sp>
      <p:sp>
        <p:nvSpPr>
          <p:cNvPr id="13" name="Text 10"/>
          <p:cNvSpPr txBox="1"/>
          <p:nvPr/>
        </p:nvSpPr>
        <p:spPr>
          <a:xfrm>
            <a:off x="548640" y="26334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4" name="Text 11"/>
          <p:cNvSpPr txBox="1"/>
          <p:nvPr/>
        </p:nvSpPr>
        <p:spPr>
          <a:xfrm>
            <a:off x="1188720" y="2560320"/>
            <a:ext cx="4754880" cy="365760"/>
          </a:xfrm>
          <a:prstGeom prst="rect">
            <a:avLst/>
          </a:prstGeom>
          <a:noFill/>
          <a:ln/>
        </p:spPr>
        <p:txBody>
          <a:bodyPr wrap="square" lIns="0" tIns="0" rIns="0" bIns="0" rtlCol="0" anchor="ctr"/>
          <a:lstStyle/>
          <a:p>
            <a:pPr indent="0" marL="0">
              <a:buNone/>
            </a:pPr>
            <a:r>
              <a:rPr lang="en-US" sz="1600" b="1" dirty="0">
                <a:solidFill>
                  <a:srgbClr val="0E3B43"/>
                </a:solidFill>
                <a:latin typeface="Cambria" pitchFamily="34" charset="0"/>
                <a:ea typeface="Cambria" pitchFamily="34" charset="-122"/>
                <a:cs typeface="Cambria" pitchFamily="34" charset="-120"/>
              </a:rPr>
              <a:t>Training targets</a:t>
            </a:r>
            <a:endParaRPr lang="en-US" sz="1600" dirty="0"/>
          </a:p>
        </p:txBody>
      </p:sp>
      <p:sp>
        <p:nvSpPr>
          <p:cNvPr id="15" name="Text 12"/>
          <p:cNvSpPr txBox="1"/>
          <p:nvPr/>
        </p:nvSpPr>
        <p:spPr>
          <a:xfrm>
            <a:off x="1188720" y="2944368"/>
            <a:ext cx="4754880" cy="685800"/>
          </a:xfrm>
          <a:prstGeom prst="rect">
            <a:avLst/>
          </a:prstGeom>
          <a:noFill/>
          <a:ln/>
        </p:spPr>
        <p:txBody>
          <a:bodyPr wrap="square" lIns="0" tIns="0" rIns="0" bIns="0" rtlCol="0" anchor="t"/>
          <a:lstStyle/>
          <a:p>
            <a:pPr indent="0" marL="0">
              <a:buNone/>
            </a:pPr>
            <a:r>
              <a:rPr lang="en-US" sz="1400" dirty="0">
                <a:solidFill>
                  <a:srgbClr val="1B2A2F"/>
                </a:solidFill>
              </a:rPr>
              <a:t>Every LightGBM training target is dated on or before the forecast date</a:t>
            </a:r>
            <a:endParaRPr lang="en-US" sz="1400" dirty="0"/>
          </a:p>
        </p:txBody>
      </p:sp>
      <p:sp>
        <p:nvSpPr>
          <p:cNvPr id="16" name="check 3"/>
          <p:cNvSpPr/>
          <p:nvPr/>
        </p:nvSpPr>
        <p:spPr>
          <a:xfrm>
            <a:off x="6172200" y="2633472"/>
            <a:ext cx="457200" cy="457200"/>
          </a:xfrm>
          <a:prstGeom prst="ellipse">
            <a:avLst/>
          </a:prstGeom>
          <a:solidFill>
            <a:srgbClr val="0F7173"/>
          </a:solidFill>
          <a:ln w="12700">
            <a:solidFill>
              <a:srgbClr val="0F7173"/>
            </a:solidFill>
            <a:prstDash val="solid"/>
          </a:ln>
        </p:spPr>
      </p:sp>
      <p:sp>
        <p:nvSpPr>
          <p:cNvPr id="17" name="Text 14"/>
          <p:cNvSpPr txBox="1"/>
          <p:nvPr/>
        </p:nvSpPr>
        <p:spPr>
          <a:xfrm>
            <a:off x="6172200" y="26334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8" name="Text 15"/>
          <p:cNvSpPr txBox="1"/>
          <p:nvPr/>
        </p:nvSpPr>
        <p:spPr>
          <a:xfrm>
            <a:off x="6812280" y="2560320"/>
            <a:ext cx="4754880" cy="365760"/>
          </a:xfrm>
          <a:prstGeom prst="rect">
            <a:avLst/>
          </a:prstGeom>
          <a:noFill/>
          <a:ln/>
        </p:spPr>
        <p:txBody>
          <a:bodyPr wrap="square" lIns="0" tIns="0" rIns="0" bIns="0" rtlCol="0" anchor="ctr"/>
          <a:lstStyle/>
          <a:p>
            <a:pPr indent="0" marL="0">
              <a:buNone/>
            </a:pPr>
            <a:r>
              <a:rPr lang="en-US" sz="1600" b="1" dirty="0">
                <a:solidFill>
                  <a:srgbClr val="0E3B43"/>
                </a:solidFill>
                <a:latin typeface="Cambria" pitchFamily="34" charset="0"/>
                <a:ea typeface="Cambria" pitchFamily="34" charset="-122"/>
                <a:cs typeface="Cambria" pitchFamily="34" charset="-120"/>
              </a:rPr>
              <a:t>Baseline match</a:t>
            </a:r>
            <a:endParaRPr lang="en-US" sz="1600" dirty="0"/>
          </a:p>
        </p:txBody>
      </p:sp>
      <p:sp>
        <p:nvSpPr>
          <p:cNvPr id="19" name="Text 16"/>
          <p:cNvSpPr txBox="1"/>
          <p:nvPr/>
        </p:nvSpPr>
        <p:spPr>
          <a:xfrm>
            <a:off x="6812280" y="2944368"/>
            <a:ext cx="4754880" cy="685800"/>
          </a:xfrm>
          <a:prstGeom prst="rect">
            <a:avLst/>
          </a:prstGeom>
          <a:noFill/>
          <a:ln/>
        </p:spPr>
        <p:txBody>
          <a:bodyPr wrap="square" lIns="0" tIns="0" rIns="0" bIns="0" rtlCol="0" anchor="t"/>
          <a:lstStyle/>
          <a:p>
            <a:pPr indent="0" marL="0">
              <a:buNone/>
            </a:pPr>
            <a:r>
              <a:rPr lang="en-US" sz="1400" dirty="0">
                <a:solidFill>
                  <a:srgbClr val="1B2A2F"/>
                </a:solidFill>
              </a:rPr>
              <a:t>"Same as last week" equals the matching feature; weekdays align</a:t>
            </a:r>
            <a:endParaRPr lang="en-US" sz="1400" dirty="0"/>
          </a:p>
        </p:txBody>
      </p:sp>
      <p:sp>
        <p:nvSpPr>
          <p:cNvPr id="20" name="check 4"/>
          <p:cNvSpPr/>
          <p:nvPr/>
        </p:nvSpPr>
        <p:spPr>
          <a:xfrm>
            <a:off x="548640" y="3822192"/>
            <a:ext cx="457200" cy="457200"/>
          </a:xfrm>
          <a:prstGeom prst="ellipse">
            <a:avLst/>
          </a:prstGeom>
          <a:solidFill>
            <a:srgbClr val="0F7173"/>
          </a:solidFill>
          <a:ln w="12700">
            <a:solidFill>
              <a:srgbClr val="0F7173"/>
            </a:solidFill>
            <a:prstDash val="solid"/>
          </a:ln>
        </p:spPr>
      </p:sp>
      <p:sp>
        <p:nvSpPr>
          <p:cNvPr id="21" name="Text 18"/>
          <p:cNvSpPr txBox="1"/>
          <p:nvPr/>
        </p:nvSpPr>
        <p:spPr>
          <a:xfrm>
            <a:off x="548640" y="38221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22" name="Text 19"/>
          <p:cNvSpPr txBox="1"/>
          <p:nvPr/>
        </p:nvSpPr>
        <p:spPr>
          <a:xfrm>
            <a:off x="1188720" y="3749040"/>
            <a:ext cx="4754880" cy="365760"/>
          </a:xfrm>
          <a:prstGeom prst="rect">
            <a:avLst/>
          </a:prstGeom>
          <a:noFill/>
          <a:ln/>
        </p:spPr>
        <p:txBody>
          <a:bodyPr wrap="square" lIns="0" tIns="0" rIns="0" bIns="0" rtlCol="0" anchor="ctr"/>
          <a:lstStyle/>
          <a:p>
            <a:pPr indent="0" marL="0">
              <a:buNone/>
            </a:pPr>
            <a:r>
              <a:rPr lang="en-US" sz="1600" b="1" dirty="0">
                <a:solidFill>
                  <a:srgbClr val="0E3B43"/>
                </a:solidFill>
                <a:latin typeface="Cambria" pitchFamily="34" charset="0"/>
                <a:ea typeface="Cambria" pitchFamily="34" charset="-122"/>
                <a:cs typeface="Cambria" pitchFamily="34" charset="-120"/>
              </a:rPr>
              <a:t>ETS recovery</a:t>
            </a:r>
            <a:endParaRPr lang="en-US" sz="1600" dirty="0"/>
          </a:p>
        </p:txBody>
      </p:sp>
      <p:sp>
        <p:nvSpPr>
          <p:cNvPr id="23" name="Text 20"/>
          <p:cNvSpPr txBox="1"/>
          <p:nvPr/>
        </p:nvSpPr>
        <p:spPr>
          <a:xfrm>
            <a:off x="1188720" y="4133088"/>
            <a:ext cx="4754880" cy="685800"/>
          </a:xfrm>
          <a:prstGeom prst="rect">
            <a:avLst/>
          </a:prstGeom>
          <a:noFill/>
          <a:ln/>
        </p:spPr>
        <p:txBody>
          <a:bodyPr wrap="square" lIns="0" tIns="0" rIns="0" bIns="0" rtlCol="0" anchor="t"/>
          <a:lstStyle/>
          <a:p>
            <a:pPr indent="0" marL="0">
              <a:buNone/>
            </a:pPr>
            <a:r>
              <a:rPr lang="en-US" sz="1400" dirty="0">
                <a:solidFill>
                  <a:srgbClr val="1B2A2F"/>
                </a:solidFill>
              </a:rPr>
              <a:t>Recovers a known weekly pattern and a constant series</a:t>
            </a:r>
            <a:endParaRPr lang="en-US" sz="1400" dirty="0"/>
          </a:p>
        </p:txBody>
      </p:sp>
      <p:sp>
        <p:nvSpPr>
          <p:cNvPr id="24" name="check 5"/>
          <p:cNvSpPr/>
          <p:nvPr/>
        </p:nvSpPr>
        <p:spPr>
          <a:xfrm>
            <a:off x="6172200" y="3822192"/>
            <a:ext cx="457200" cy="457200"/>
          </a:xfrm>
          <a:prstGeom prst="ellipse">
            <a:avLst/>
          </a:prstGeom>
          <a:solidFill>
            <a:srgbClr val="0F7173"/>
          </a:solidFill>
          <a:ln w="12700">
            <a:solidFill>
              <a:srgbClr val="0F7173"/>
            </a:solidFill>
            <a:prstDash val="solid"/>
          </a:ln>
        </p:spPr>
      </p:sp>
      <p:sp>
        <p:nvSpPr>
          <p:cNvPr id="25" name="Text 22"/>
          <p:cNvSpPr txBox="1"/>
          <p:nvPr/>
        </p:nvSpPr>
        <p:spPr>
          <a:xfrm>
            <a:off x="6172200" y="38221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26" name="Text 23"/>
          <p:cNvSpPr txBox="1"/>
          <p:nvPr/>
        </p:nvSpPr>
        <p:spPr>
          <a:xfrm>
            <a:off x="6812280" y="3749040"/>
            <a:ext cx="4754880" cy="365760"/>
          </a:xfrm>
          <a:prstGeom prst="rect">
            <a:avLst/>
          </a:prstGeom>
          <a:noFill/>
          <a:ln/>
        </p:spPr>
        <p:txBody>
          <a:bodyPr wrap="square" lIns="0" tIns="0" rIns="0" bIns="0" rtlCol="0" anchor="ctr"/>
          <a:lstStyle/>
          <a:p>
            <a:pPr indent="0" marL="0">
              <a:buNone/>
            </a:pPr>
            <a:r>
              <a:rPr lang="en-US" sz="1600" b="1" dirty="0">
                <a:solidFill>
                  <a:srgbClr val="0E3B43"/>
                </a:solidFill>
                <a:latin typeface="Cambria" pitchFamily="34" charset="0"/>
                <a:ea typeface="Cambria" pitchFamily="34" charset="-122"/>
                <a:cs typeface="Cambria" pitchFamily="34" charset="-120"/>
              </a:rPr>
              <a:t>Zero denominators</a:t>
            </a:r>
            <a:endParaRPr lang="en-US" sz="1600" dirty="0"/>
          </a:p>
        </p:txBody>
      </p:sp>
      <p:sp>
        <p:nvSpPr>
          <p:cNvPr id="27" name="Text 24"/>
          <p:cNvSpPr txBox="1"/>
          <p:nvPr/>
        </p:nvSpPr>
        <p:spPr>
          <a:xfrm>
            <a:off x="6812280" y="4133088"/>
            <a:ext cx="4754880" cy="685800"/>
          </a:xfrm>
          <a:prstGeom prst="rect">
            <a:avLst/>
          </a:prstGeom>
          <a:noFill/>
          <a:ln/>
        </p:spPr>
        <p:txBody>
          <a:bodyPr wrap="square" lIns="0" tIns="0" rIns="0" bIns="0" rtlCol="0" anchor="t"/>
          <a:lstStyle/>
          <a:p>
            <a:pPr indent="0" marL="0">
              <a:buNone/>
            </a:pPr>
            <a:r>
              <a:rPr lang="en-US" sz="1400" dirty="0">
                <a:solidFill>
                  <a:srgbClr val="1B2A2F"/>
                </a:solidFill>
              </a:rPr>
              <a:t>Zero actuals give undefined WAPE / RMSSE, counted, not hidden</a:t>
            </a:r>
            <a:endParaRPr lang="en-US" sz="1400" dirty="0"/>
          </a:p>
        </p:txBody>
      </p:sp>
      <p:sp>
        <p:nvSpPr>
          <p:cNvPr id="28" name="check 6"/>
          <p:cNvSpPr/>
          <p:nvPr/>
        </p:nvSpPr>
        <p:spPr>
          <a:xfrm>
            <a:off x="548640" y="5010912"/>
            <a:ext cx="457200" cy="457200"/>
          </a:xfrm>
          <a:prstGeom prst="ellipse">
            <a:avLst/>
          </a:prstGeom>
          <a:solidFill>
            <a:srgbClr val="0F7173"/>
          </a:solidFill>
          <a:ln w="12700">
            <a:solidFill>
              <a:srgbClr val="0F7173"/>
            </a:solidFill>
            <a:prstDash val="solid"/>
          </a:ln>
        </p:spPr>
      </p:sp>
      <p:sp>
        <p:nvSpPr>
          <p:cNvPr id="29" name="Text 26"/>
          <p:cNvSpPr txBox="1"/>
          <p:nvPr/>
        </p:nvSpPr>
        <p:spPr>
          <a:xfrm>
            <a:off x="548640" y="50109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30" name="Text 27"/>
          <p:cNvSpPr txBox="1"/>
          <p:nvPr/>
        </p:nvSpPr>
        <p:spPr>
          <a:xfrm>
            <a:off x="1188720" y="4937760"/>
            <a:ext cx="4754880" cy="365760"/>
          </a:xfrm>
          <a:prstGeom prst="rect">
            <a:avLst/>
          </a:prstGeom>
          <a:noFill/>
          <a:ln/>
        </p:spPr>
        <p:txBody>
          <a:bodyPr wrap="square" lIns="0" tIns="0" rIns="0" bIns="0" rtlCol="0" anchor="ctr"/>
          <a:lstStyle/>
          <a:p>
            <a:pPr indent="0" marL="0">
              <a:buNone/>
            </a:pPr>
            <a:r>
              <a:rPr lang="en-US" sz="1600" b="1" dirty="0">
                <a:solidFill>
                  <a:srgbClr val="0E3B43"/>
                </a:solidFill>
                <a:latin typeface="Cambria" pitchFamily="34" charset="0"/>
                <a:ea typeface="Cambria" pitchFamily="34" charset="-122"/>
                <a:cs typeface="Cambria" pitchFamily="34" charset="-120"/>
              </a:rPr>
              <a:t>Disjoint weeks</a:t>
            </a:r>
            <a:endParaRPr lang="en-US" sz="1600" dirty="0"/>
          </a:p>
        </p:txBody>
      </p:sp>
      <p:sp>
        <p:nvSpPr>
          <p:cNvPr id="31" name="Text 28"/>
          <p:cNvSpPr txBox="1"/>
          <p:nvPr/>
        </p:nvSpPr>
        <p:spPr>
          <a:xfrm>
            <a:off x="1188720" y="5321808"/>
            <a:ext cx="4754880" cy="685800"/>
          </a:xfrm>
          <a:prstGeom prst="rect">
            <a:avLst/>
          </a:prstGeom>
          <a:noFill/>
          <a:ln/>
        </p:spPr>
        <p:txBody>
          <a:bodyPr wrap="square" lIns="0" tIns="0" rIns="0" bIns="0" rtlCol="0" anchor="t"/>
          <a:lstStyle/>
          <a:p>
            <a:pPr indent="0" marL="0">
              <a:buNone/>
            </a:pPr>
            <a:r>
              <a:rPr lang="en-US" sz="1400" dirty="0">
                <a:solidFill>
                  <a:srgbClr val="1B2A2F"/>
                </a:solidFill>
              </a:rPr>
              <a:t>Weekly evaluation windows never overlap; none touch the holdout</a:t>
            </a:r>
            <a:endParaRPr lang="en-US" sz="1400" dirty="0"/>
          </a:p>
        </p:txBody>
      </p:sp>
      <p:sp>
        <p:nvSpPr>
          <p:cNvPr id="32" name="check 7"/>
          <p:cNvSpPr/>
          <p:nvPr/>
        </p:nvSpPr>
        <p:spPr>
          <a:xfrm>
            <a:off x="6172200" y="5010912"/>
            <a:ext cx="457200" cy="457200"/>
          </a:xfrm>
          <a:prstGeom prst="ellipse">
            <a:avLst/>
          </a:prstGeom>
          <a:solidFill>
            <a:srgbClr val="0F7173"/>
          </a:solidFill>
          <a:ln w="12700">
            <a:solidFill>
              <a:srgbClr val="0F7173"/>
            </a:solidFill>
            <a:prstDash val="solid"/>
          </a:ln>
        </p:spPr>
      </p:sp>
      <p:sp>
        <p:nvSpPr>
          <p:cNvPr id="33" name="Text 30"/>
          <p:cNvSpPr txBox="1"/>
          <p:nvPr/>
        </p:nvSpPr>
        <p:spPr>
          <a:xfrm>
            <a:off x="6172200" y="50109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34" name="Text 31"/>
          <p:cNvSpPr txBox="1"/>
          <p:nvPr/>
        </p:nvSpPr>
        <p:spPr>
          <a:xfrm>
            <a:off x="6812280" y="4937760"/>
            <a:ext cx="4754880" cy="365760"/>
          </a:xfrm>
          <a:prstGeom prst="rect">
            <a:avLst/>
          </a:prstGeom>
          <a:noFill/>
          <a:ln/>
        </p:spPr>
        <p:txBody>
          <a:bodyPr wrap="square" lIns="0" tIns="0" rIns="0" bIns="0" rtlCol="0" anchor="ctr"/>
          <a:lstStyle/>
          <a:p>
            <a:pPr indent="0" marL="0">
              <a:buNone/>
            </a:pPr>
            <a:r>
              <a:rPr lang="en-US" sz="1600" b="1" dirty="0">
                <a:solidFill>
                  <a:srgbClr val="0E3B43"/>
                </a:solidFill>
                <a:latin typeface="Cambria" pitchFamily="34" charset="0"/>
                <a:ea typeface="Cambria" pitchFamily="34" charset="-122"/>
                <a:cs typeface="Cambria" pitchFamily="34" charset="-120"/>
              </a:rPr>
              <a:t>Near end of data</a:t>
            </a:r>
            <a:endParaRPr lang="en-US" sz="1600" dirty="0"/>
          </a:p>
        </p:txBody>
      </p:sp>
      <p:sp>
        <p:nvSpPr>
          <p:cNvPr id="35" name="Text 32"/>
          <p:cNvSpPr txBox="1"/>
          <p:nvPr/>
        </p:nvSpPr>
        <p:spPr>
          <a:xfrm>
            <a:off x="6812280" y="5321808"/>
            <a:ext cx="4754880" cy="685800"/>
          </a:xfrm>
          <a:prstGeom prst="rect">
            <a:avLst/>
          </a:prstGeom>
          <a:noFill/>
          <a:ln/>
        </p:spPr>
        <p:txBody>
          <a:bodyPr wrap="square" lIns="0" tIns="0" rIns="0" bIns="0" rtlCol="0" anchor="t"/>
          <a:lstStyle/>
          <a:p>
            <a:pPr indent="0" marL="0">
              <a:buNone/>
            </a:pPr>
            <a:r>
              <a:rPr lang="en-US" sz="1400" dirty="0">
                <a:solidFill>
                  <a:srgbClr val="1B2A2F"/>
                </a:solidFill>
              </a:rPr>
              <a:t>Forecasts past d1941 still get calendar features (regression)</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Forecasting: which forecasts are dependable?</a:t>
            </a:r>
            <a:endParaRPr lang="en-US" sz="4000" dirty="0"/>
          </a:p>
        </p:txBody>
      </p:sp>
      <p:sp>
        <p:nvSpPr>
          <p:cNvPr id="3" name="Text 0"/>
          <p:cNvSpPr/>
          <p:nvPr>
            <p:ph idx="101" type="body" hasCustomPrompt="1"/>
          </p:nvPr>
        </p:nvSpPr>
        <p:spPr>
          <a:xfrm>
            <a:off x="731520" y="3703320"/>
            <a:ext cx="10698480" cy="1097280"/>
          </a:xfrm>
          <a:prstGeom prst="rect">
            <a:avLst/>
          </a:prstGeom>
          <a:noFill/>
          <a:ln/>
        </p:spPr>
        <p:txBody>
          <a:bodyPr wrap="square" lIns="0" tIns="0" rIns="0" bIns="0" rtlCol="0" anchor="t"/>
          <a:lstStyle/>
          <a:p>
            <a:pPr indent="0" marL="0">
              <a:buNone/>
            </a:pPr>
            <a:r>
              <a:rPr lang="en-US" sz="1800" dirty="0">
                <a:solidFill>
                  <a:srgbClr val="E3F1F1"/>
                </a:solidFill>
                <a:latin typeface="Calibri" pitchFamily="34" charset="0"/>
                <a:ea typeface="Calibri" pitchFamily="34" charset="-122"/>
                <a:cs typeface="Calibri" pitchFamily="34" charset="-120"/>
              </a:rPr>
              <a:t>Three methods, limited tuning, six validation periods, one holdout</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E3F1F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Three forecasting methods</a:t>
            </a:r>
            <a:endParaRPr lang="en-US" sz="3200" dirty="0"/>
          </a:p>
        </p:txBody>
      </p:sp>
      <p:sp>
        <p:nvSpPr>
          <p:cNvPr id="4" name="card Seasonal naive"/>
          <p:cNvSpPr/>
          <p:nvPr/>
        </p:nvSpPr>
        <p:spPr>
          <a:xfrm>
            <a:off x="548640" y="1371600"/>
            <a:ext cx="3566160" cy="4663440"/>
          </a:xfrm>
          <a:prstGeom prst="roundRect">
            <a:avLst>
              <a:gd name="adj" fmla="val 2051"/>
            </a:avLst>
          </a:prstGeom>
          <a:solidFill>
            <a:srgbClr val="EEF3F3"/>
          </a:solidFill>
          <a:ln w="12700">
            <a:solidFill>
              <a:srgbClr val="EEF3F3"/>
            </a:solidFill>
            <a:prstDash val="solid"/>
          </a:ln>
        </p:spPr>
      </p:sp>
      <p:sp>
        <p:nvSpPr>
          <p:cNvPr id="5" name="Text 2"/>
          <p:cNvSpPr txBox="1"/>
          <p:nvPr/>
        </p:nvSpPr>
        <p:spPr>
          <a:xfrm>
            <a:off x="749808" y="1517904"/>
            <a:ext cx="31638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Seasonal naive</a:t>
            </a:r>
            <a:endParaRPr lang="en-US" sz="1700" dirty="0"/>
          </a:p>
        </p:txBody>
      </p:sp>
      <p:sp>
        <p:nvSpPr>
          <p:cNvPr id="6" name="Text 3"/>
          <p:cNvSpPr txBox="1"/>
          <p:nvPr/>
        </p:nvSpPr>
        <p:spPr>
          <a:xfrm>
            <a:off x="749808" y="1938528"/>
            <a:ext cx="3163824" cy="39776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Forecast for each of the next 28 days = sales on the same weekday last week.</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No parameters. The benchmark.</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Runtime: instant.</a:t>
            </a:r>
            <a:endParaRPr lang="en-US" sz="1400" dirty="0"/>
          </a:p>
        </p:txBody>
      </p:sp>
      <p:sp>
        <p:nvSpPr>
          <p:cNvPr id="7" name="card ETS (hand-written)"/>
          <p:cNvSpPr/>
          <p:nvPr/>
        </p:nvSpPr>
        <p:spPr>
          <a:xfrm>
            <a:off x="4343400" y="1371600"/>
            <a:ext cx="3566160" cy="4663440"/>
          </a:xfrm>
          <a:prstGeom prst="roundRect">
            <a:avLst>
              <a:gd name="adj" fmla="val 2051"/>
            </a:avLst>
          </a:prstGeom>
          <a:solidFill>
            <a:srgbClr val="EEF3F3"/>
          </a:solidFill>
          <a:ln w="12700">
            <a:solidFill>
              <a:srgbClr val="EEF3F3"/>
            </a:solidFill>
            <a:prstDash val="solid"/>
          </a:ln>
        </p:spPr>
      </p:sp>
      <p:sp>
        <p:nvSpPr>
          <p:cNvPr id="8" name="Text 5"/>
          <p:cNvSpPr txBox="1"/>
          <p:nvPr/>
        </p:nvSpPr>
        <p:spPr>
          <a:xfrm>
            <a:off x="4544568" y="1517904"/>
            <a:ext cx="31638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ETS (hand-written)</a:t>
            </a:r>
            <a:endParaRPr lang="en-US" sz="1700" dirty="0"/>
          </a:p>
        </p:txBody>
      </p:sp>
      <p:sp>
        <p:nvSpPr>
          <p:cNvPr id="9" name="Text 6"/>
          <p:cNvSpPr txBox="1"/>
          <p:nvPr/>
        </p:nvSpPr>
        <p:spPr>
          <a:xfrm>
            <a:off x="4544568" y="1938528"/>
            <a:ext cx="3163824" cy="39776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Level + weekly pattern, additive errors. Per series: ETS(A,N,A) or ETS(A,N,N) by AIC; smoothing grid 8 x 4.</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Fit on the last 728 days.</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Fallback to naive if a fit fails: 0 times.</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Runtime: 0.05 s for 200 series.</a:t>
            </a:r>
            <a:endParaRPr lang="en-US" sz="1400" dirty="0"/>
          </a:p>
        </p:txBody>
      </p:sp>
      <p:sp>
        <p:nvSpPr>
          <p:cNvPr id="10" name="card LightGBM (global)"/>
          <p:cNvSpPr/>
          <p:nvPr/>
        </p:nvSpPr>
        <p:spPr>
          <a:xfrm>
            <a:off x="8138160" y="1371600"/>
            <a:ext cx="3474720" cy="4663440"/>
          </a:xfrm>
          <a:prstGeom prst="roundRect">
            <a:avLst>
              <a:gd name="adj" fmla="val 2105"/>
            </a:avLst>
          </a:prstGeom>
          <a:solidFill>
            <a:srgbClr val="EEF3F3"/>
          </a:solidFill>
          <a:ln w="12700">
            <a:solidFill>
              <a:srgbClr val="EEF3F3"/>
            </a:solidFill>
            <a:prstDash val="solid"/>
          </a:ln>
        </p:spPr>
      </p:sp>
      <p:sp>
        <p:nvSpPr>
          <p:cNvPr id="11" name="Text 8"/>
          <p:cNvSpPr txBox="1"/>
          <p:nvPr/>
        </p:nvSpPr>
        <p:spPr>
          <a:xfrm>
            <a:off x="8339328" y="1517904"/>
            <a:ext cx="307238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LightGBM (global)</a:t>
            </a:r>
            <a:endParaRPr lang="en-US" sz="1700" dirty="0"/>
          </a:p>
        </p:txBody>
      </p:sp>
      <p:sp>
        <p:nvSpPr>
          <p:cNvPr id="12" name="Text 9"/>
          <p:cNvSpPr txBox="1"/>
          <p:nvPr/>
        </p:nvSpPr>
        <p:spPr>
          <a:xfrm>
            <a:off x="8339328" y="1938528"/>
            <a:ext cx="3072384" cy="39776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One model for all series; 28 horizons with horizon as a feature.</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Features: recent means, weekday averages, zero share, days since sale, last known price and change, target-day weekday / event / SNAP, store / dept.</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Tweedie loss. Runtime: about 25 s per refit.</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Limited tuning: 3 LightGBM settings on 3 tuning origins</a:t>
            </a:r>
            <a:endParaRPr lang="en-US" sz="3200" dirty="0"/>
          </a:p>
        </p:txBody>
      </p:sp>
      <p:graphicFrame>
        <p:nvGraphicFramePr>
          <p:cNvPr id="4" name="Chart 0" descr=""/>
          <p:cNvGraphicFramePr/>
          <p:nvPr/>
        </p:nvGraphicFramePr>
        <p:xfrm>
          <a:off x="548640" y="132588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card Choice recorded"/>
          <p:cNvSpPr/>
          <p:nvPr/>
        </p:nvSpPr>
        <p:spPr>
          <a:xfrm>
            <a:off x="7772400" y="1325880"/>
            <a:ext cx="3840480" cy="4754880"/>
          </a:xfrm>
          <a:prstGeom prst="roundRect">
            <a:avLst>
              <a:gd name="adj" fmla="val 1905"/>
            </a:avLst>
          </a:prstGeom>
          <a:solidFill>
            <a:srgbClr val="EEF3F3"/>
          </a:solidFill>
          <a:ln w="12700">
            <a:solidFill>
              <a:srgbClr val="EEF3F3"/>
            </a:solidFill>
            <a:prstDash val="solid"/>
          </a:ln>
        </p:spPr>
      </p:sp>
      <p:sp>
        <p:nvSpPr>
          <p:cNvPr id="6" name="Text 2"/>
          <p:cNvSpPr txBox="1"/>
          <p:nvPr/>
        </p:nvSpPr>
        <p:spPr>
          <a:xfrm>
            <a:off x="7973568" y="1472184"/>
            <a:ext cx="34381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Choice recorded</a:t>
            </a:r>
            <a:endParaRPr lang="en-US" sz="1700" dirty="0"/>
          </a:p>
        </p:txBody>
      </p:sp>
      <p:sp>
        <p:nvSpPr>
          <p:cNvPr id="7" name="Text 3"/>
          <p:cNvSpPr txBox="1"/>
          <p:nvPr/>
        </p:nvSpPr>
        <p:spPr>
          <a:xfrm>
            <a:off x="7973568" y="1892808"/>
            <a:ext cx="3438144" cy="406908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Rule fixed in advance: lowest mean RMSSE on tuning origins.</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Chosen: Tweedie, 63 leaves, 800 trees, learning rate 0.03.</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The gap between settings (0.006) is small; tuning was deliberately limited to avoid overfitting.</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Validation: LightGBM best, ETS close behind</a:t>
            </a:r>
            <a:endParaRPr lang="en-US" sz="3200" dirty="0"/>
          </a:p>
        </p:txBody>
      </p:sp>
      <p:graphicFrame>
        <p:nvGraphicFramePr>
          <p:cNvPr id="4" name="Chart 0" descr=""/>
          <p:cNvGraphicFramePr/>
          <p:nvPr/>
        </p:nvGraphicFramePr>
        <p:xfrm>
          <a:off x="548640" y="1325880"/>
          <a:ext cx="548640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09360" y="1417320"/>
          <a:ext cx="5303520" cy="914400"/>
        </p:xfrm>
        <a:graphic>
          <a:graphicData uri="http://schemas.openxmlformats.org/drawingml/2006/table">
            <a:tbl>
              <a:tblPr/>
              <a:tblGrid>
                <a:gridCol w="1554480"/>
                <a:gridCol w="1051560"/>
                <a:gridCol w="868680"/>
                <a:gridCol w="914400"/>
                <a:gridCol w="91440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 RMSSE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Median</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WAPE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Bias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LightGBM</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0.674</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0.629</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60.5%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ETS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0.688</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0.644</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62.6%</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Seasonal naive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0.889</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0.865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75.4%</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bl>
          </a:graphicData>
        </a:graphic>
      </p:graphicFrame>
      <p:sp>
        <p:nvSpPr>
          <p:cNvPr id="6" name="Text 1"/>
          <p:cNvSpPr txBox="1"/>
          <p:nvPr/>
        </p:nvSpPr>
        <p:spPr>
          <a:xfrm>
            <a:off x="6309360" y="3291840"/>
            <a:ext cx="5303520" cy="2651760"/>
          </a:xfrm>
          <a:prstGeom prst="rect">
            <a:avLst/>
          </a:prstGeom>
          <a:noFill/>
          <a:ln/>
        </p:spPr>
        <p:txBody>
          <a:bodyPr wrap="square" lIns="0" tIns="0" rIns="0" bIns="0" rtlCol="0" anchor="t"/>
          <a:lstStyle/>
          <a:p>
            <a:pPr marL="203200" indent="-203200">
              <a:spcAft>
                <a:spcPts val="700"/>
              </a:spcAft>
              <a:buSzPct val="100000"/>
              <a:buChar char="•"/>
            </a:pPr>
            <a:r>
              <a:rPr lang="en-US" sz="1500" b="1" dirty="0">
                <a:solidFill>
                  <a:srgbClr val="1B2A2F"/>
                </a:solidFill>
                <a:latin typeface="Calibri" pitchFamily="34" charset="0"/>
                <a:ea typeface="Calibri" pitchFamily="34" charset="-122"/>
                <a:cs typeface="Calibri" pitchFamily="34" charset="-120"/>
              </a:rPr>
              <a:t>Won 6 of 6 periods,</a:t>
            </a:r>
            <a:pPr indent="0" marL="0">
              <a:spcAft>
                <a:spcPts val="700"/>
              </a:spcAft>
              <a:buNone/>
            </a:pPr>
            <a:r>
              <a:rPr lang="en-US" sz="1500" dirty="0">
                <a:solidFill>
                  <a:srgbClr val="1B2A2F"/>
                </a:solidFill>
                <a:latin typeface="Calibri" pitchFamily="34" charset="0"/>
                <a:ea typeface="Calibri" pitchFamily="34" charset="-122"/>
                <a:cs typeface="Calibri" pitchFamily="34" charset="-120"/>
              </a:rPr>
              <a:t> but paired gap vs ETS is only -0.014 RMSSE.</a:t>
            </a:r>
            <a:endParaRPr lang="en-US" sz="1500" dirty="0"/>
          </a:p>
          <a:p>
            <a:pPr marL="203200" indent="-203200">
              <a:spcAft>
                <a:spcPts val="700"/>
              </a:spcAft>
              <a:buSzPct val="100000"/>
              <a:buChar char="•"/>
            </a:pPr>
            <a:r>
              <a:rPr lang="en-US" sz="1500" b="1" dirty="0">
                <a:solidFill>
                  <a:srgbClr val="1B2A2F"/>
                </a:solidFill>
                <a:latin typeface="Calibri" pitchFamily="34" charset="0"/>
                <a:ea typeface="Calibri" pitchFamily="34" charset="-122"/>
                <a:cs typeface="Calibri" pitchFamily="34" charset="-120"/>
              </a:rPr>
              <a:t>Better on 57%</a:t>
            </a:r>
            <a:pPr indent="0" marL="0">
              <a:spcAft>
                <a:spcPts val="700"/>
              </a:spcAft>
              <a:buNone/>
            </a:pPr>
            <a:r>
              <a:rPr lang="en-US" sz="1500" dirty="0">
                <a:solidFill>
                  <a:srgbClr val="1B2A2F"/>
                </a:solidFill>
                <a:latin typeface="Calibri" pitchFamily="34" charset="0"/>
                <a:ea typeface="Calibri" pitchFamily="34" charset="-122"/>
                <a:cs typeface="Calibri" pitchFamily="34" charset="-120"/>
              </a:rPr>
              <a:t> of series-periods; ETS wins the other 43%.</a:t>
            </a:r>
            <a:endParaRPr lang="en-US" sz="1500" dirty="0"/>
          </a:p>
          <a:p>
            <a:pPr marL="203200" indent="-203200">
              <a:spcAft>
                <a:spcPts val="700"/>
              </a:spcAft>
              <a:buSzPct val="100000"/>
              <a:buChar char="•"/>
            </a:pPr>
            <a:r>
              <a:rPr lang="en-US" sz="1500" b="1" dirty="0">
                <a:solidFill>
                  <a:srgbClr val="1B2A2F"/>
                </a:solidFill>
                <a:latin typeface="Calibri" pitchFamily="34" charset="0"/>
                <a:ea typeface="Calibri" pitchFamily="34" charset="-122"/>
                <a:cs typeface="Calibri" pitchFamily="34" charset="-120"/>
              </a:rPr>
              <a:t>Under-forecasts more:</a:t>
            </a:r>
            <a:pPr indent="0" marL="0">
              <a:spcAft>
                <a:spcPts val="700"/>
              </a:spcAft>
              <a:buNone/>
            </a:pPr>
            <a:r>
              <a:rPr lang="en-US" sz="1500" dirty="0">
                <a:solidFill>
                  <a:srgbClr val="1B2A2F"/>
                </a:solidFill>
                <a:latin typeface="Calibri" pitchFamily="34" charset="0"/>
                <a:ea typeface="Calibri" pitchFamily="34" charset="-122"/>
                <a:cs typeface="Calibri" pitchFamily="34" charset="-120"/>
              </a:rPr>
              <a:t> -6% on high and medium volume.</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Consistency over time: same order in every period</a:t>
            </a:r>
            <a:endParaRPr lang="en-US" sz="3200" dirty="0"/>
          </a:p>
        </p:txBody>
      </p:sp>
      <p:graphicFrame>
        <p:nvGraphicFramePr>
          <p:cNvPr id="4" name="Chart 0" descr=""/>
          <p:cNvGraphicFramePr/>
          <p:nvPr/>
        </p:nvGraphicFramePr>
        <p:xfrm>
          <a:off x="548640" y="1325880"/>
          <a:ext cx="1106424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By segment: LightGBM edge disappears on slow sellers</a:t>
            </a:r>
            <a:endParaRPr lang="en-US" sz="3200" dirty="0"/>
          </a:p>
        </p:txBody>
      </p:sp>
      <p:graphicFrame>
        <p:nvGraphicFramePr>
          <p:cNvPr id="4" name="Chart 0" descr=""/>
          <p:cNvGraphicFramePr/>
          <p:nvPr/>
        </p:nvGraphicFramePr>
        <p:xfrm>
          <a:off x="548640" y="1325880"/>
          <a:ext cx="1106424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Final holdout: same ranking, everyone under-forecasts</a:t>
            </a:r>
            <a:endParaRPr lang="en-US" sz="3200" dirty="0"/>
          </a:p>
        </p:txBody>
      </p:sp>
      <p:graphicFrame>
        <p:nvGraphicFramePr>
          <p:cNvPr id="4" name="Chart 0" descr=""/>
          <p:cNvGraphicFramePr/>
          <p:nvPr/>
        </p:nvGraphicFramePr>
        <p:xfrm>
          <a:off x="548640" y="1325880"/>
          <a:ext cx="512064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69280" cy="914400"/>
        </p:xfrm>
        <a:graphic>
          <a:graphicData uri="http://schemas.openxmlformats.org/drawingml/2006/table">
            <a:tbl>
              <a:tblPr/>
              <a:tblGrid>
                <a:gridCol w="2103120"/>
                <a:gridCol w="1188720"/>
                <a:gridCol w="1188720"/>
                <a:gridCol w="11887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Holdout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LightGBM</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ETS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Naive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WAPE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57.9%</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58.6%</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68.0%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Bias, all</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-6.8%</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-10.6%</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Bias, low volume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-15.3%</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-16.9%</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RMSSE, low volume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0.682</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0.684</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0.898</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RMSSE, high volume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0.709</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0.734</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0.878</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bl>
          </a:graphicData>
        </a:graphic>
      </p:graphicFrame>
      <p:sp>
        <p:nvSpPr>
          <p:cNvPr id="6" name="card Reading it"/>
          <p:cNvSpPr/>
          <p:nvPr/>
        </p:nvSpPr>
        <p:spPr>
          <a:xfrm>
            <a:off x="5943600" y="4206240"/>
            <a:ext cx="5669280" cy="1874520"/>
          </a:xfrm>
          <a:prstGeom prst="roundRect">
            <a:avLst>
              <a:gd name="adj" fmla="val 3902"/>
            </a:avLst>
          </a:prstGeom>
          <a:solidFill>
            <a:srgbClr val="EEF3F3"/>
          </a:solidFill>
          <a:ln w="12700">
            <a:solidFill>
              <a:srgbClr val="EEF3F3"/>
            </a:solidFill>
            <a:prstDash val="solid"/>
          </a:ln>
        </p:spPr>
      </p:sp>
      <p:sp>
        <p:nvSpPr>
          <p:cNvPr id="7" name="Text 2"/>
          <p:cNvSpPr txBox="1"/>
          <p:nvPr/>
        </p:nvSpPr>
        <p:spPr>
          <a:xfrm>
            <a:off x="6144768" y="4352544"/>
            <a:ext cx="52669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Reading it</a:t>
            </a:r>
            <a:endParaRPr lang="en-US" sz="1700" dirty="0"/>
          </a:p>
        </p:txBody>
      </p:sp>
      <p:sp>
        <p:nvSpPr>
          <p:cNvPr id="8" name="Text 3"/>
          <p:cNvSpPr txBox="1"/>
          <p:nvPr/>
        </p:nvSpPr>
        <p:spPr>
          <a:xfrm>
            <a:off x="6144768" y="4773168"/>
            <a:ext cx="5266944" cy="11887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Validation and holdout agree on the order. Holdout RMSSE is higher than validation (0.733 vs 0.674): one 28-day window is a small, noisy sample.</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Forecast ranges: calibrated on old weeks, held up later</a:t>
            </a:r>
            <a:endParaRPr lang="en-US" sz="3200" dirty="0"/>
          </a:p>
        </p:txBody>
      </p:sp>
      <p:graphicFrame>
        <p:nvGraphicFramePr>
          <p:cNvPr id="4" name="Chart 0" descr=""/>
          <p:cNvGraphicFramePr/>
          <p:nvPr/>
        </p:nvGraphicFramePr>
        <p:xfrm>
          <a:off x="548640" y="1325880"/>
          <a:ext cx="7315200" cy="4846320"/>
        </p:xfrm>
        <a:graphic xmlns:a="http://schemas.openxmlformats.org/drawingml/2006/main">
          <a:graphicData uri="http://schemas.openxmlformats.org/drawingml/2006/chart">
            <c:chart xmlns:c="http://schemas.openxmlformats.org/drawingml/2006/chart" r:id="rId1"/>
          </a:graphicData>
        </a:graphic>
      </p:graphicFrame>
      <p:sp>
        <p:nvSpPr>
          <p:cNvPr id="5" name="card Why it matters"/>
          <p:cNvSpPr/>
          <p:nvPr/>
        </p:nvSpPr>
        <p:spPr>
          <a:xfrm>
            <a:off x="8138160" y="1325880"/>
            <a:ext cx="3474720" cy="4846320"/>
          </a:xfrm>
          <a:prstGeom prst="roundRect">
            <a:avLst>
              <a:gd name="adj" fmla="val 2105"/>
            </a:avLst>
          </a:prstGeom>
          <a:solidFill>
            <a:srgbClr val="EEF3F3"/>
          </a:solidFill>
          <a:ln w="12700">
            <a:solidFill>
              <a:srgbClr val="EEF3F3"/>
            </a:solidFill>
            <a:prstDash val="solid"/>
          </a:ln>
        </p:spPr>
      </p:sp>
      <p:sp>
        <p:nvSpPr>
          <p:cNvPr id="6" name="Text 2"/>
          <p:cNvSpPr txBox="1"/>
          <p:nvPr/>
        </p:nvSpPr>
        <p:spPr>
          <a:xfrm>
            <a:off x="8339328" y="1472184"/>
            <a:ext cx="307238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Why it matters</a:t>
            </a:r>
            <a:endParaRPr lang="en-US" sz="1700" dirty="0"/>
          </a:p>
        </p:txBody>
      </p:sp>
      <p:sp>
        <p:nvSpPr>
          <p:cNvPr id="7" name="Text 3"/>
          <p:cNvSpPr txBox="1"/>
          <p:nvPr/>
        </p:nvSpPr>
        <p:spPr>
          <a:xfrm>
            <a:off x="8339328" y="1892808"/>
            <a:ext cx="3072384" cy="41605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A range is only useful if its stated confidence is honest.</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Average width: about 6 units per day, from 2 (low volume) to 10 (high volume).</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The range width also became one of the review-list signals.</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Weekly review list: which 5 series to check?</a:t>
            </a:r>
            <a:endParaRPr lang="en-US" sz="4000" dirty="0"/>
          </a:p>
        </p:txBody>
      </p:sp>
      <p:sp>
        <p:nvSpPr>
          <p:cNvPr id="3" name="Text 0"/>
          <p:cNvSpPr/>
          <p:nvPr>
            <p:ph idx="101" type="body" hasCustomPrompt="1"/>
          </p:nvPr>
        </p:nvSpPr>
        <p:spPr>
          <a:xfrm>
            <a:off x="731520" y="3703320"/>
            <a:ext cx="10698480" cy="1097280"/>
          </a:xfrm>
          <a:prstGeom prst="rect">
            <a:avLst/>
          </a:prstGeom>
          <a:noFill/>
          <a:ln/>
        </p:spPr>
        <p:txBody>
          <a:bodyPr wrap="square" lIns="0" tIns="0" rIns="0" bIns="0" rtlCol="0" anchor="t"/>
          <a:lstStyle/>
          <a:p>
            <a:pPr indent="0" marL="0">
              <a:buNone/>
            </a:pPr>
            <a:r>
              <a:rPr lang="en-US" sz="1800" dirty="0">
                <a:solidFill>
                  <a:srgbClr val="E3F1F1"/>
                </a:solidFill>
                <a:latin typeface="Calibri" pitchFamily="34" charset="0"/>
                <a:ea typeface="Calibri" pitchFamily="34" charset="-122"/>
                <a:cs typeface="Calibri" pitchFamily="34" charset="-120"/>
              </a:rPr>
              <a:t>Equal-budget comparison of ranking rules, frozen before the holdout</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E3F1F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Ranking rules and how a list is scored</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914400"/>
        </p:xfrm>
        <a:graphic>
          <a:graphicData uri="http://schemas.openxmlformats.org/drawingml/2006/table">
            <a:tbl>
              <a:tblPr/>
              <a:tblGrid>
                <a:gridCol w="2377440"/>
                <a:gridCol w="429768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Ranks series by</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Volume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Units sold in the last 28 days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Recent error</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Average weekly absolute error of the last 4 weekly forecasts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Bias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Size of average signed error over the last 8 weeks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Uncertainty</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Width of this week's 90% range, summed over 7 days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Combined (proposed)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0.2 x recent error + 0.1 x bias + 0.7 x uncertainty</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Random</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200 seeded random lists (benchmark)</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Normalised error (diagnostic)</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Recent error divided by the series' usual daily change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bl>
          </a:graphicData>
        </a:graphic>
      </p:graphicFrame>
      <p:sp>
        <p:nvSpPr>
          <p:cNvPr id="5" name="card Scoring a list"/>
          <p:cNvSpPr/>
          <p:nvPr/>
        </p:nvSpPr>
        <p:spPr>
          <a:xfrm>
            <a:off x="7498080" y="1325880"/>
            <a:ext cx="4114800" cy="4846320"/>
          </a:xfrm>
          <a:prstGeom prst="roundRect">
            <a:avLst>
              <a:gd name="adj" fmla="val 1778"/>
            </a:avLst>
          </a:prstGeom>
          <a:solidFill>
            <a:srgbClr val="EEF3F3"/>
          </a:solidFill>
          <a:ln w="12700">
            <a:solidFill>
              <a:srgbClr val="EEF3F3"/>
            </a:solidFill>
            <a:prstDash val="solid"/>
          </a:ln>
        </p:spPr>
      </p:sp>
      <p:sp>
        <p:nvSpPr>
          <p:cNvPr id="6" name="Text 2"/>
          <p:cNvSpPr txBox="1"/>
          <p:nvPr/>
        </p:nvSpPr>
        <p:spPr>
          <a:xfrm>
            <a:off x="7699248" y="1472184"/>
            <a:ext cx="371246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Scoring a list</a:t>
            </a:r>
            <a:endParaRPr lang="en-US" sz="1700" dirty="0"/>
          </a:p>
        </p:txBody>
      </p:sp>
      <p:sp>
        <p:nvSpPr>
          <p:cNvPr id="7" name="Text 3"/>
          <p:cNvSpPr txBox="1"/>
          <p:nvPr/>
        </p:nvSpPr>
        <p:spPr>
          <a:xfrm>
            <a:off x="7699248" y="1892808"/>
            <a:ext cx="3712464" cy="41605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Captured share: the list's share of all 200 series' absolute unit error over the next 7 days.</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Large-error event: error relative to the series' usual variability above 1.44 (90th percentile on calibration weeks).</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Precision: share of picks that were events. Recall: share of events picked.</a:t>
            </a:r>
            <a:endParaRPr lang="en-US" sz="1400" dirty="0"/>
          </a:p>
          <a:p>
            <a:pPr indent="0" marL="0">
              <a:spcAft>
                <a:spcPts val="400"/>
              </a:spcAft>
              <a:buNone/>
            </a:pP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Captured error is not avoided error.</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Validation (35 weeks): combined score wins by a hair</a:t>
            </a:r>
            <a:endParaRPr lang="en-US" sz="3200" dirty="0"/>
          </a:p>
        </p:txBody>
      </p:sp>
      <p:graphicFrame>
        <p:nvGraphicFramePr>
          <p:cNvPr id="4" name="Chart 0"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0" y="1417320"/>
          <a:ext cx="3840480" cy="914400"/>
        </p:xfrm>
        <a:graphic>
          <a:graphicData uri="http://schemas.openxmlformats.org/drawingml/2006/table">
            <a:tbl>
              <a:tblPr/>
              <a:tblGrid>
                <a:gridCol w="1508760"/>
                <a:gridCol w="777240"/>
                <a:gridCol w="777240"/>
                <a:gridCol w="77724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Captured share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K=1</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K=10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Combined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16.4%</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23.6%</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Recent error</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16.0%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23.2%</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Volume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15.6%</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23.4%</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Random</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0.5%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bl>
          </a:graphicData>
        </a:graphic>
      </p:graphicFrame>
      <p:sp>
        <p:nvSpPr>
          <p:cNvPr id="6" name="card Takeaway"/>
          <p:cNvSpPr/>
          <p:nvPr/>
        </p:nvSpPr>
        <p:spPr>
          <a:xfrm>
            <a:off x="7772400" y="3840480"/>
            <a:ext cx="3840480" cy="2331720"/>
          </a:xfrm>
          <a:prstGeom prst="roundRect">
            <a:avLst>
              <a:gd name="adj" fmla="val 3137"/>
            </a:avLst>
          </a:prstGeom>
          <a:solidFill>
            <a:srgbClr val="EEF3F3"/>
          </a:solidFill>
          <a:ln w="12700">
            <a:solidFill>
              <a:srgbClr val="EEF3F3"/>
            </a:solidFill>
            <a:prstDash val="solid"/>
          </a:ln>
        </p:spPr>
      </p:sp>
      <p:sp>
        <p:nvSpPr>
          <p:cNvPr id="7" name="Text 2"/>
          <p:cNvSpPr txBox="1"/>
          <p:nvPr/>
        </p:nvSpPr>
        <p:spPr>
          <a:xfrm>
            <a:off x="7973568" y="3986784"/>
            <a:ext cx="34381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Takeaway</a:t>
            </a:r>
            <a:endParaRPr lang="en-US" sz="1700" dirty="0"/>
          </a:p>
        </p:txBody>
      </p:sp>
      <p:sp>
        <p:nvSpPr>
          <p:cNvPr id="8" name="Text 3"/>
          <p:cNvSpPr txBox="1"/>
          <p:nvPr/>
        </p:nvSpPr>
        <p:spPr>
          <a:xfrm>
            <a:off x="7973568" y="4407408"/>
            <a:ext cx="3438144" cy="16459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All sensible rules are 6x random. Differences between them are about half a point and vary week to week.</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Holdout (4 weeks): effectively a tie</a:t>
            </a:r>
            <a:endParaRPr lang="en-US" sz="3200" dirty="0"/>
          </a:p>
        </p:txBody>
      </p:sp>
      <p:graphicFrame>
        <p:nvGraphicFramePr>
          <p:cNvPr id="4" name="Chart 0" descr=""/>
          <p:cNvGraphicFramePr/>
          <p:nvPr/>
        </p:nvGraphicFramePr>
        <p:xfrm>
          <a:off x="548640" y="1325880"/>
          <a:ext cx="676656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589520" y="1417320"/>
          <a:ext cx="4023360" cy="914400"/>
        </p:xfrm>
        <a:graphic>
          <a:graphicData uri="http://schemas.openxmlformats.org/drawingml/2006/table">
            <a:tbl>
              <a:tblPr/>
              <a:tblGrid>
                <a:gridCol w="1737360"/>
                <a:gridCol w="1143000"/>
                <a:gridCol w="114300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Holdout, K=5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Captured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Combined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Volume</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Recent error</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Uncertainty</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12.8%</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Bias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8.6%</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Random</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Two goals need two different lists</a:t>
            </a:r>
            <a:endParaRPr lang="en-US" sz="3200" dirty="0"/>
          </a:p>
        </p:txBody>
      </p:sp>
      <p:graphicFrame>
        <p:nvGraphicFramePr>
          <p:cNvPr id="4" name="Chart 0"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card Unit-exposure list"/>
          <p:cNvSpPr/>
          <p:nvPr/>
        </p:nvSpPr>
        <p:spPr>
          <a:xfrm>
            <a:off x="7772400" y="1325880"/>
            <a:ext cx="3840480" cy="2286000"/>
          </a:xfrm>
          <a:prstGeom prst="roundRect">
            <a:avLst>
              <a:gd name="adj" fmla="val 3200"/>
            </a:avLst>
          </a:prstGeom>
          <a:solidFill>
            <a:srgbClr val="EEF3F3"/>
          </a:solidFill>
          <a:ln w="12700">
            <a:solidFill>
              <a:srgbClr val="EEF3F3"/>
            </a:solidFill>
            <a:prstDash val="solid"/>
          </a:ln>
        </p:spPr>
      </p:sp>
      <p:sp>
        <p:nvSpPr>
          <p:cNvPr id="6" name="Text 2"/>
          <p:cNvSpPr txBox="1"/>
          <p:nvPr/>
        </p:nvSpPr>
        <p:spPr>
          <a:xfrm>
            <a:off x="7973568" y="1472184"/>
            <a:ext cx="34381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Unit-exposure list</a:t>
            </a:r>
            <a:endParaRPr lang="en-US" sz="1700" dirty="0"/>
          </a:p>
        </p:txBody>
      </p:sp>
      <p:sp>
        <p:nvSpPr>
          <p:cNvPr id="7" name="Text 3"/>
          <p:cNvSpPr txBox="1"/>
          <p:nvPr/>
        </p:nvSpPr>
        <p:spPr>
          <a:xfrm>
            <a:off x="7973568" y="1892808"/>
            <a:ext cx="3438144" cy="160020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Volume / recent error / combined.</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Captures ~13-16% of unit error.</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Picks are mostly high sellers.</a:t>
            </a:r>
            <a:endParaRPr lang="en-US" sz="1400" dirty="0"/>
          </a:p>
        </p:txBody>
      </p:sp>
      <p:sp>
        <p:nvSpPr>
          <p:cNvPr id="8" name="card &quot;Broken forecast&quot; list"/>
          <p:cNvSpPr/>
          <p:nvPr/>
        </p:nvSpPr>
        <p:spPr>
          <a:xfrm>
            <a:off x="7772400" y="3840480"/>
            <a:ext cx="3840480" cy="2331720"/>
          </a:xfrm>
          <a:prstGeom prst="roundRect">
            <a:avLst>
              <a:gd name="adj" fmla="val 3137"/>
            </a:avLst>
          </a:prstGeom>
          <a:solidFill>
            <a:srgbClr val="E6F0EC"/>
          </a:solidFill>
          <a:ln w="12700">
            <a:solidFill>
              <a:srgbClr val="E6F0EC"/>
            </a:solidFill>
            <a:prstDash val="solid"/>
          </a:ln>
        </p:spPr>
      </p:sp>
      <p:sp>
        <p:nvSpPr>
          <p:cNvPr id="9" name="Text 5"/>
          <p:cNvSpPr txBox="1"/>
          <p:nvPr/>
        </p:nvSpPr>
        <p:spPr>
          <a:xfrm>
            <a:off x="7973568" y="3986784"/>
            <a:ext cx="34381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"Broken forecast" list</a:t>
            </a:r>
            <a:endParaRPr lang="en-US" sz="1700" dirty="0"/>
          </a:p>
        </p:txBody>
      </p:sp>
      <p:sp>
        <p:nvSpPr>
          <p:cNvPr id="10" name="Text 6"/>
          <p:cNvSpPr txBox="1"/>
          <p:nvPr/>
        </p:nvSpPr>
        <p:spPr>
          <a:xfrm>
            <a:off x="7973568" y="4407408"/>
            <a:ext cx="3438144" cy="16459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Normalised recent error.</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60% of picks are true large-error events; only ~4% of unit error.</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What went wrong, and what we did not test</a:t>
            </a:r>
            <a:endParaRPr lang="en-US" sz="4000" dirty="0"/>
          </a:p>
        </p:txBody>
      </p:sp>
      <p:sp>
        <p:nvSpPr>
          <p:cNvPr id="3" name="Text 0"/>
          <p:cNvSpPr/>
          <p:nvPr>
            <p:ph idx="101" type="body" hasCustomPrompt="1"/>
          </p:nvPr>
        </p:nvSpPr>
        <p:spPr>
          <a:xfrm>
            <a:off x="731520" y="3703320"/>
            <a:ext cx="10698480" cy="1097280"/>
          </a:xfrm>
          <a:prstGeom prst="rect">
            <a:avLst/>
          </a:prstGeom>
          <a:noFill/>
          <a:ln/>
        </p:spPr>
        <p:txBody>
          <a:bodyPr wrap="square" lIns="0" tIns="0" rIns="0" bIns="0" rtlCol="0" anchor="t"/>
          <a:lstStyle/>
          <a:p>
            <a:pPr indent="0" marL="0">
              <a:buNone/>
            </a:pPr>
            <a:r>
              <a:rPr lang="en-US" sz="1800" dirty="0">
                <a:solidFill>
                  <a:srgbClr val="E3F1F1"/>
                </a:solidFill>
                <a:latin typeface="Calibri" pitchFamily="34" charset="0"/>
                <a:ea typeface="Calibri" pitchFamily="34" charset="-122"/>
                <a:cs typeface="Calibri" pitchFamily="34" charset="-120"/>
              </a:rPr>
              <a:t>Failures, fixes, limits and gaps</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E3F1F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Problems found and how they were handled</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931920"/>
                <a:gridCol w="3108960"/>
                <a:gridCol w="402336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Problem</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Impact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Resolution</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ETS dropped perfect fits (log of zero error)</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Wrong model choice on clean series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Caught by toy test; fixed before any results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Holdout crashed on your laptop (calendar stopped at d1941)</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LightGBM missing for 3 holdout weeks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Full calendar loaded; regression test; script now stops loudly; rerun</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Package index blocked in both work environments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No statsmodels / Streamlit</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LightGBM + DuckDB from official releases; ETS in numpy</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LightGBM differs across machines (4.7.0 laptop vs 4.6.0)</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Holdout RMSSE 0.7339 vs 0.7333</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Recorded; conclusions unchanged; lightgbm 4.6.0 pinned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pandas 3 read-only arrays</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Load step failed</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300" dirty="0">
                          <a:solidFill>
                            <a:srgbClr val="1B2A2F"/>
                          </a:solidFill>
                          <a:latin typeface="Calibri" pitchFamily="34" charset="0"/>
                          <a:ea typeface="Calibri" pitchFamily="34" charset="-122"/>
                          <a:cs typeface="Calibri" pitchFamily="34" charset="-120"/>
                        </a:rPr>
                        <a:t>Explicit copies; code runs on pandas 2 and 3</a:t>
                      </a:r>
                      <a:endParaRPr lang="en-US" sz="13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Paths tested, and paths not tested</a:t>
            </a:r>
            <a:endParaRPr lang="en-US" sz="3200" dirty="0"/>
          </a:p>
        </p:txBody>
      </p:sp>
      <p:sp>
        <p:nvSpPr>
          <p:cNvPr id="4" name="card Tested"/>
          <p:cNvSpPr/>
          <p:nvPr/>
        </p:nvSpPr>
        <p:spPr>
          <a:xfrm>
            <a:off x="548640" y="1325880"/>
            <a:ext cx="5394960" cy="4846320"/>
          </a:xfrm>
          <a:prstGeom prst="roundRect">
            <a:avLst>
              <a:gd name="adj" fmla="val 1509"/>
            </a:avLst>
          </a:prstGeom>
          <a:solidFill>
            <a:srgbClr val="EEF3F3"/>
          </a:solidFill>
          <a:ln w="12700">
            <a:solidFill>
              <a:srgbClr val="EEF3F3"/>
            </a:solidFill>
            <a:prstDash val="solid"/>
          </a:ln>
        </p:spPr>
      </p:sp>
      <p:sp>
        <p:nvSpPr>
          <p:cNvPr id="5" name="Text 2"/>
          <p:cNvSpPr txBox="1"/>
          <p:nvPr/>
        </p:nvSpPr>
        <p:spPr>
          <a:xfrm>
            <a:off x="749808" y="1472184"/>
            <a:ext cx="49926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Tested</a:t>
            </a:r>
            <a:endParaRPr lang="en-US" sz="1700" dirty="0"/>
          </a:p>
        </p:txBody>
      </p:sp>
      <p:sp>
        <p:nvSpPr>
          <p:cNvPr id="6" name="Text 3"/>
          <p:cNvSpPr txBox="1"/>
          <p:nvPr/>
        </p:nvSpPr>
        <p:spPr>
          <a:xfrm>
            <a:off x="749808" y="1892808"/>
            <a:ext cx="4992624" cy="41605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- 3 forecast methods: naive, ETS, LightGBM</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- 3 LightGBM settings (Tweedie / Poisson, 31 / 63 leaves)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ETS seasonal vs non-seasonal, chosen per series by AIC</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- 5 single-signal ranking rules + 200 random lists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- 66 weight mixes x 2 normalisations for the combined score</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Capacities K = 1, 5, 10</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Unit exposure vs normalised error</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Raw vs calibrated forecast ranges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Segments: volume, pattern, store, category, horizon</a:t>
            </a:r>
            <a:endParaRPr lang="en-US" sz="1400" dirty="0"/>
          </a:p>
        </p:txBody>
      </p:sp>
      <p:sp>
        <p:nvSpPr>
          <p:cNvPr id="7" name="card Not tested"/>
          <p:cNvSpPr/>
          <p:nvPr/>
        </p:nvSpPr>
        <p:spPr>
          <a:xfrm>
            <a:off x="6217920" y="1325880"/>
            <a:ext cx="5394960" cy="4846320"/>
          </a:xfrm>
          <a:prstGeom prst="roundRect">
            <a:avLst>
              <a:gd name="adj" fmla="val 1509"/>
            </a:avLst>
          </a:prstGeom>
          <a:solidFill>
            <a:srgbClr val="FBF1E3"/>
          </a:solidFill>
          <a:ln w="12700">
            <a:solidFill>
              <a:srgbClr val="FBF1E3"/>
            </a:solidFill>
            <a:prstDash val="solid"/>
          </a:ln>
        </p:spPr>
      </p:sp>
      <p:sp>
        <p:nvSpPr>
          <p:cNvPr id="8" name="Text 5"/>
          <p:cNvSpPr txBox="1"/>
          <p:nvPr/>
        </p:nvSpPr>
        <p:spPr>
          <a:xfrm>
            <a:off x="6419088" y="1472184"/>
            <a:ext cx="49926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Not tested</a:t>
            </a:r>
            <a:endParaRPr lang="en-US" sz="1700" dirty="0"/>
          </a:p>
        </p:txBody>
      </p:sp>
      <p:sp>
        <p:nvSpPr>
          <p:cNvPr id="9" name="Text 6"/>
          <p:cNvSpPr txBox="1"/>
          <p:nvPr/>
        </p:nvSpPr>
        <p:spPr>
          <a:xfrm>
            <a:off x="6419088" y="1892808"/>
            <a:ext cx="4992624" cy="41605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Intermittent-demand methods (Croston, TSB) for irregular sellers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Quantile LightGBM for forecast ranges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Bias correction of LightGBM</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Separate models by segment (no evidence of need)</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Known-future-price scenario (optional in spec)</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Hierarchical / aggregate forecasts (store, department)</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Deep learning (out of scope by spec)</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Statistical confidence intervals on rule differences</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Missing data and limits of the conclusions</a:t>
            </a:r>
            <a:endParaRPr lang="en-US" sz="3200" dirty="0"/>
          </a:p>
        </p:txBody>
      </p:sp>
      <p:sp>
        <p:nvSpPr>
          <p:cNvPr id="4" name="card No inventory or lead times"/>
          <p:cNvSpPr/>
          <p:nvPr/>
        </p:nvSpPr>
        <p:spPr>
          <a:xfrm>
            <a:off x="548640" y="1325880"/>
            <a:ext cx="5440680" cy="1463040"/>
          </a:xfrm>
          <a:prstGeom prst="roundRect">
            <a:avLst>
              <a:gd name="adj" fmla="val 5000"/>
            </a:avLst>
          </a:prstGeom>
          <a:solidFill>
            <a:srgbClr val="EEF3F3"/>
          </a:solidFill>
          <a:ln w="12700">
            <a:solidFill>
              <a:srgbClr val="EEF3F3"/>
            </a:solidFill>
            <a:prstDash val="solid"/>
          </a:ln>
        </p:spPr>
      </p:sp>
      <p:sp>
        <p:nvSpPr>
          <p:cNvPr id="5" name="Text 2"/>
          <p:cNvSpPr txBox="1"/>
          <p:nvPr/>
        </p:nvSpPr>
        <p:spPr>
          <a:xfrm>
            <a:off x="749808" y="1472184"/>
            <a:ext cx="50383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No inventory or lead times</a:t>
            </a:r>
            <a:endParaRPr lang="en-US" sz="1700" dirty="0"/>
          </a:p>
        </p:txBody>
      </p:sp>
      <p:sp>
        <p:nvSpPr>
          <p:cNvPr id="6" name="Text 3"/>
          <p:cNvSpPr txBox="1"/>
          <p:nvPr/>
        </p:nvSpPr>
        <p:spPr>
          <a:xfrm>
            <a:off x="749808" y="1892808"/>
            <a:ext cx="5038344" cy="7772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Cannot measure stockouts, service level or cash impact.</a:t>
            </a:r>
            <a:endParaRPr lang="en-US" sz="1400" dirty="0"/>
          </a:p>
        </p:txBody>
      </p:sp>
      <p:sp>
        <p:nvSpPr>
          <p:cNvPr id="7" name="card No planner override history"/>
          <p:cNvSpPr/>
          <p:nvPr/>
        </p:nvSpPr>
        <p:spPr>
          <a:xfrm>
            <a:off x="6172200" y="1325880"/>
            <a:ext cx="5440680" cy="1463040"/>
          </a:xfrm>
          <a:prstGeom prst="roundRect">
            <a:avLst>
              <a:gd name="adj" fmla="val 5000"/>
            </a:avLst>
          </a:prstGeom>
          <a:solidFill>
            <a:srgbClr val="FBF1E3"/>
          </a:solidFill>
          <a:ln w="12700">
            <a:solidFill>
              <a:srgbClr val="FBF1E3"/>
            </a:solidFill>
            <a:prstDash val="solid"/>
          </a:ln>
        </p:spPr>
      </p:sp>
      <p:sp>
        <p:nvSpPr>
          <p:cNvPr id="8" name="Text 5"/>
          <p:cNvSpPr txBox="1"/>
          <p:nvPr/>
        </p:nvSpPr>
        <p:spPr>
          <a:xfrm>
            <a:off x="6373368" y="1472184"/>
            <a:ext cx="50383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No planner override history</a:t>
            </a:r>
            <a:endParaRPr lang="en-US" sz="1700" dirty="0"/>
          </a:p>
        </p:txBody>
      </p:sp>
      <p:sp>
        <p:nvSpPr>
          <p:cNvPr id="9" name="Text 6"/>
          <p:cNvSpPr txBox="1"/>
          <p:nvPr/>
        </p:nvSpPr>
        <p:spPr>
          <a:xfrm>
            <a:off x="6373368" y="1892808"/>
            <a:ext cx="5038344" cy="7772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Cannot test whether reviewing a list improves forecasts.</a:t>
            </a:r>
            <a:endParaRPr lang="en-US" sz="1400" dirty="0"/>
          </a:p>
        </p:txBody>
      </p:sp>
      <p:sp>
        <p:nvSpPr>
          <p:cNvPr id="10" name="card Censored demand"/>
          <p:cNvSpPr/>
          <p:nvPr/>
        </p:nvSpPr>
        <p:spPr>
          <a:xfrm>
            <a:off x="548640" y="2971800"/>
            <a:ext cx="5440680" cy="1463040"/>
          </a:xfrm>
          <a:prstGeom prst="roundRect">
            <a:avLst>
              <a:gd name="adj" fmla="val 5000"/>
            </a:avLst>
          </a:prstGeom>
          <a:solidFill>
            <a:srgbClr val="EEF3F3"/>
          </a:solidFill>
          <a:ln w="12700">
            <a:solidFill>
              <a:srgbClr val="EEF3F3"/>
            </a:solidFill>
            <a:prstDash val="solid"/>
          </a:ln>
        </p:spPr>
      </p:sp>
      <p:sp>
        <p:nvSpPr>
          <p:cNvPr id="11" name="Text 8"/>
          <p:cNvSpPr txBox="1"/>
          <p:nvPr/>
        </p:nvSpPr>
        <p:spPr>
          <a:xfrm>
            <a:off x="749808" y="3118104"/>
            <a:ext cx="50383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Censored demand</a:t>
            </a:r>
            <a:endParaRPr lang="en-US" sz="1700" dirty="0"/>
          </a:p>
        </p:txBody>
      </p:sp>
      <p:sp>
        <p:nvSpPr>
          <p:cNvPr id="12" name="Text 9"/>
          <p:cNvSpPr txBox="1"/>
          <p:nvPr/>
        </p:nvSpPr>
        <p:spPr>
          <a:xfrm>
            <a:off x="749808" y="3538728"/>
            <a:ext cx="5038344" cy="7772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Zero sales may be no demand, no stock, or recording; indistinguishable here.</a:t>
            </a:r>
            <a:endParaRPr lang="en-US" sz="1400" dirty="0"/>
          </a:p>
        </p:txBody>
      </p:sp>
      <p:sp>
        <p:nvSpPr>
          <p:cNvPr id="13" name="card Small holdout"/>
          <p:cNvSpPr/>
          <p:nvPr/>
        </p:nvSpPr>
        <p:spPr>
          <a:xfrm>
            <a:off x="6172200" y="2971800"/>
            <a:ext cx="5440680" cy="1463040"/>
          </a:xfrm>
          <a:prstGeom prst="roundRect">
            <a:avLst>
              <a:gd name="adj" fmla="val 5000"/>
            </a:avLst>
          </a:prstGeom>
          <a:solidFill>
            <a:srgbClr val="FBF1E3"/>
          </a:solidFill>
          <a:ln w="12700">
            <a:solidFill>
              <a:srgbClr val="FBF1E3"/>
            </a:solidFill>
            <a:prstDash val="solid"/>
          </a:ln>
        </p:spPr>
      </p:sp>
      <p:sp>
        <p:nvSpPr>
          <p:cNvPr id="14" name="Text 11"/>
          <p:cNvSpPr txBox="1"/>
          <p:nvPr/>
        </p:nvSpPr>
        <p:spPr>
          <a:xfrm>
            <a:off x="6373368" y="3118104"/>
            <a:ext cx="50383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Small holdout</a:t>
            </a:r>
            <a:endParaRPr lang="en-US" sz="1700" dirty="0"/>
          </a:p>
        </p:txBody>
      </p:sp>
      <p:sp>
        <p:nvSpPr>
          <p:cNvPr id="15" name="Text 12"/>
          <p:cNvSpPr txBox="1"/>
          <p:nvPr/>
        </p:nvSpPr>
        <p:spPr>
          <a:xfrm>
            <a:off x="6373368" y="3538728"/>
            <a:ext cx="5038344" cy="7772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28 days and 4 weekly lists; rule differences are within noise.</a:t>
            </a:r>
            <a:endParaRPr lang="en-US" sz="1400" dirty="0"/>
          </a:p>
        </p:txBody>
      </p:sp>
      <p:sp>
        <p:nvSpPr>
          <p:cNvPr id="16" name="card Narrow panel"/>
          <p:cNvSpPr/>
          <p:nvPr/>
        </p:nvSpPr>
        <p:spPr>
          <a:xfrm>
            <a:off x="548640" y="4617720"/>
            <a:ext cx="5440680" cy="1463040"/>
          </a:xfrm>
          <a:prstGeom prst="roundRect">
            <a:avLst>
              <a:gd name="adj" fmla="val 5000"/>
            </a:avLst>
          </a:prstGeom>
          <a:solidFill>
            <a:srgbClr val="EEF3F3"/>
          </a:solidFill>
          <a:ln w="12700">
            <a:solidFill>
              <a:srgbClr val="EEF3F3"/>
            </a:solidFill>
            <a:prstDash val="solid"/>
          </a:ln>
        </p:spPr>
      </p:sp>
      <p:sp>
        <p:nvSpPr>
          <p:cNvPr id="17" name="Text 14"/>
          <p:cNvSpPr txBox="1"/>
          <p:nvPr/>
        </p:nvSpPr>
        <p:spPr>
          <a:xfrm>
            <a:off x="749808" y="4764024"/>
            <a:ext cx="50383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Narrow panel</a:t>
            </a:r>
            <a:endParaRPr lang="en-US" sz="1700" dirty="0"/>
          </a:p>
        </p:txBody>
      </p:sp>
      <p:sp>
        <p:nvSpPr>
          <p:cNvPr id="18" name="Text 15"/>
          <p:cNvSpPr txBox="1"/>
          <p:nvPr/>
        </p:nvSpPr>
        <p:spPr>
          <a:xfrm>
            <a:off x="749808" y="5184648"/>
            <a:ext cx="5038344" cy="7772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2 stores, 2 categories; sparse and new items excluded.</a:t>
            </a:r>
            <a:endParaRPr lang="en-US" sz="1400" dirty="0"/>
          </a:p>
        </p:txBody>
      </p:sp>
      <p:sp>
        <p:nvSpPr>
          <p:cNvPr id="19" name="card Not official M5 metric"/>
          <p:cNvSpPr/>
          <p:nvPr/>
        </p:nvSpPr>
        <p:spPr>
          <a:xfrm>
            <a:off x="6172200" y="4617720"/>
            <a:ext cx="5440680" cy="1463040"/>
          </a:xfrm>
          <a:prstGeom prst="roundRect">
            <a:avLst>
              <a:gd name="adj" fmla="val 5000"/>
            </a:avLst>
          </a:prstGeom>
          <a:solidFill>
            <a:srgbClr val="FBF1E3"/>
          </a:solidFill>
          <a:ln w="12700">
            <a:solidFill>
              <a:srgbClr val="FBF1E3"/>
            </a:solidFill>
            <a:prstDash val="solid"/>
          </a:ln>
        </p:spPr>
      </p:sp>
      <p:sp>
        <p:nvSpPr>
          <p:cNvPr id="20" name="Text 17"/>
          <p:cNvSpPr txBox="1"/>
          <p:nvPr/>
        </p:nvSpPr>
        <p:spPr>
          <a:xfrm>
            <a:off x="6373368" y="4764024"/>
            <a:ext cx="503834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Not official M5 metric</a:t>
            </a:r>
            <a:endParaRPr lang="en-US" sz="1700" dirty="0"/>
          </a:p>
        </p:txBody>
      </p:sp>
      <p:sp>
        <p:nvSpPr>
          <p:cNvPr id="21" name="Text 18"/>
          <p:cNvSpPr txBox="1"/>
          <p:nvPr/>
        </p:nvSpPr>
        <p:spPr>
          <a:xfrm>
            <a:off x="6373368" y="5184648"/>
            <a:ext cx="5038344" cy="77724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Panel RMSSE, not the full-hierarchy WRMSSE leaderboard metric.</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Recommendations and next steps</a:t>
            </a:r>
            <a:endParaRPr lang="en-US" sz="4000" dirty="0"/>
          </a:p>
        </p:txBody>
      </p:sp>
      <p:sp>
        <p:nvSpPr>
          <p:cNvPr id="3" name="Text 0"/>
          <p:cNvSpPr/>
          <p:nvPr>
            <p:ph idx="101" type="body" hasCustomPrompt="1"/>
          </p:nvPr>
        </p:nvSpPr>
        <p:spPr>
          <a:xfrm>
            <a:off x="731520" y="3703320"/>
            <a:ext cx="10698480" cy="1097280"/>
          </a:xfrm>
          <a:prstGeom prst="rect">
            <a:avLst/>
          </a:prstGeom>
          <a:noFill/>
          <a:ln/>
        </p:spPr>
        <p:txBody>
          <a:bodyPr wrap="square" lIns="0" tIns="0" rIns="0" bIns="0" rtlCol="0" anchor="t"/>
          <a:lstStyle/>
          <a:p>
            <a:pPr indent="0" marL="0">
              <a:buNone/>
            </a:pPr>
            <a:r>
              <a:rPr lang="en-US" sz="1800" dirty="0">
                <a:solidFill>
                  <a:srgbClr val="E3F1F1"/>
                </a:solidFill>
                <a:latin typeface="Calibri" pitchFamily="34" charset="0"/>
                <a:ea typeface="Calibri" pitchFamily="34" charset="-122"/>
                <a:cs typeface="Calibri" pitchFamily="34" charset="-120"/>
              </a:rPr>
              <a:t>How to use this, how to improve it, and the Power BI dashboard</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E3F1F1"/>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Recommendations</a:t>
            </a:r>
            <a:endParaRPr lang="en-US" sz="3200" dirty="0"/>
          </a:p>
        </p:txBody>
      </p:sp>
      <p:sp>
        <p:nvSpPr>
          <p:cNvPr id="4" name="card For a planner (from the evidence)"/>
          <p:cNvSpPr/>
          <p:nvPr/>
        </p:nvSpPr>
        <p:spPr>
          <a:xfrm>
            <a:off x="548640" y="1325880"/>
            <a:ext cx="5394960" cy="4846320"/>
          </a:xfrm>
          <a:prstGeom prst="roundRect">
            <a:avLst>
              <a:gd name="adj" fmla="val 1509"/>
            </a:avLst>
          </a:prstGeom>
          <a:solidFill>
            <a:srgbClr val="EEF3F3"/>
          </a:solidFill>
          <a:ln w="12700">
            <a:solidFill>
              <a:srgbClr val="EEF3F3"/>
            </a:solidFill>
            <a:prstDash val="solid"/>
          </a:ln>
        </p:spPr>
      </p:sp>
      <p:sp>
        <p:nvSpPr>
          <p:cNvPr id="5" name="Text 2"/>
          <p:cNvSpPr txBox="1"/>
          <p:nvPr/>
        </p:nvSpPr>
        <p:spPr>
          <a:xfrm>
            <a:off x="749808" y="1472184"/>
            <a:ext cx="49926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For a planner (from the evidence)</a:t>
            </a:r>
            <a:endParaRPr lang="en-US" sz="1700" dirty="0"/>
          </a:p>
        </p:txBody>
      </p:sp>
      <p:sp>
        <p:nvSpPr>
          <p:cNvPr id="6" name="Text 3"/>
          <p:cNvSpPr txBox="1"/>
          <p:nvPr/>
        </p:nvSpPr>
        <p:spPr>
          <a:xfrm>
            <a:off x="749808" y="1892808"/>
            <a:ext cx="4992624" cy="41605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Use LightGBM forecasts; keep ETS as a fast, less-biased fallback.</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Watch the downward bias, especially on slow sellers.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Review list: start with the simple rule (top recent error or top volume); the combined score has not earned its complexity.</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Run a second, normalised-error list to catch broken forecasts.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 Treat ranges as about 89-91% honest.</a:t>
            </a:r>
            <a:endParaRPr lang="en-US" sz="1400" dirty="0"/>
          </a:p>
        </p:txBody>
      </p:sp>
      <p:sp>
        <p:nvSpPr>
          <p:cNvPr id="7" name="card To improve the project"/>
          <p:cNvSpPr/>
          <p:nvPr/>
        </p:nvSpPr>
        <p:spPr>
          <a:xfrm>
            <a:off x="6217920" y="1325880"/>
            <a:ext cx="5394960" cy="4846320"/>
          </a:xfrm>
          <a:prstGeom prst="roundRect">
            <a:avLst>
              <a:gd name="adj" fmla="val 1509"/>
            </a:avLst>
          </a:prstGeom>
          <a:solidFill>
            <a:srgbClr val="E6F0EC"/>
          </a:solidFill>
          <a:ln w="12700">
            <a:solidFill>
              <a:srgbClr val="E6F0EC"/>
            </a:solidFill>
            <a:prstDash val="solid"/>
          </a:ln>
        </p:spPr>
      </p:sp>
      <p:sp>
        <p:nvSpPr>
          <p:cNvPr id="8" name="Text 5"/>
          <p:cNvSpPr txBox="1"/>
          <p:nvPr/>
        </p:nvSpPr>
        <p:spPr>
          <a:xfrm>
            <a:off x="6419088" y="1472184"/>
            <a:ext cx="4992624" cy="384048"/>
          </a:xfrm>
          <a:prstGeom prst="rect">
            <a:avLst/>
          </a:prstGeom>
          <a:noFill/>
          <a:ln/>
        </p:spPr>
        <p:txBody>
          <a:bodyPr wrap="square" lIns="0" tIns="0" rIns="0" bIns="0" rtlCol="0" anchor="t"/>
          <a:lstStyle/>
          <a:p>
            <a:pPr indent="0" marL="0">
              <a:buNone/>
            </a:pPr>
            <a:r>
              <a:rPr lang="en-US" sz="1700" b="1" dirty="0">
                <a:solidFill>
                  <a:srgbClr val="0E3B43"/>
                </a:solidFill>
                <a:latin typeface="Cambria" pitchFamily="34" charset="0"/>
                <a:ea typeface="Cambria" pitchFamily="34" charset="-122"/>
                <a:cs typeface="Cambria" pitchFamily="34" charset="-120"/>
              </a:rPr>
              <a:t>To improve the project</a:t>
            </a:r>
            <a:endParaRPr lang="en-US" sz="1700" dirty="0"/>
          </a:p>
        </p:txBody>
      </p:sp>
      <p:sp>
        <p:nvSpPr>
          <p:cNvPr id="9" name="Text 6"/>
          <p:cNvSpPr txBox="1"/>
          <p:nvPr/>
        </p:nvSpPr>
        <p:spPr>
          <a:xfrm>
            <a:off x="6419088" y="1892808"/>
            <a:ext cx="4992624" cy="4160520"/>
          </a:xfrm>
          <a:prstGeom prst="rect">
            <a:avLst/>
          </a:prstGeom>
          <a:noFill/>
          <a:ln/>
        </p:spPr>
        <p:txBody>
          <a:bodyPr wrap="square" lIns="0" tIns="0" rIns="0" bIns="0" rtlCol="0" anchor="t"/>
          <a:lstStyle/>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1. Cross-check hand-written ETS against statsmodels on your laptop.</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2. Add bootstrap confidence intervals for rule differences across weeks.</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3. Try Croston/TSB for irregular sellers and a simple bias correction (validation only).</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4. Pin exact package versions; remove scipy and scikit-learn.</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5. Extend to more stores and categories with the same frozen pipeline.</a:t>
            </a:r>
            <a:endParaRPr lang="en-US" sz="1400" dirty="0"/>
          </a:p>
          <a:p>
            <a:pPr indent="0" marL="0">
              <a:spcAft>
                <a:spcPts val="400"/>
              </a:spcAft>
              <a:buNone/>
            </a:pPr>
            <a:r>
              <a:rPr lang="en-US" sz="1400" dirty="0">
                <a:solidFill>
                  <a:srgbClr val="1B2A2F"/>
                </a:solidFill>
                <a:latin typeface="Calibri" pitchFamily="34" charset="0"/>
                <a:ea typeface="Calibri" pitchFamily="34" charset="-122"/>
                <a:cs typeface="Calibri" pitchFamily="34" charset="-120"/>
              </a:rPr>
              <a:t>6. With real data: inventory and planner overrides to measure value.</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Power BI dashboard: 10 pages</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5760720"/>
                <a:gridCol w="31089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Page</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explains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0E3B43"/>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 Start here</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The two questions, KPI cards, headline findings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all</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2. The company</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Store and department shares, growth, monthly trend</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ctx_* (full M5)</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3. Demand patterns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Weekday rhythm, SNAP days, events, zero-sales share</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ctx_* (full M5)</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4. Our sample</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Sample vs company, 26 data checks, limits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ctx_panel_vs_m5, checks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5. Forecast accuracy</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RMSSE / WAPE / bias by model, segment, period</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model_comparison</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6. Forecast ranges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Coverage raw vs calibrated, by horizon and segment</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interval_coverage</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7. Weekly review list</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As-of week slicer, top 10 with evidence text</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review_lists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8. Product drill-down</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Actual vs forecast and 90% band; failure case preloaded</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sales_history, forecast_intervals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9. Did the lists work?</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Captured share by week and rule; precision</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rule_weekly, rule_summary</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EEF3F3"/>
                    </a:solidFill>
                  </a:tcPr>
                </a:tc>
              </a:tr>
              <a:tr h="0">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10. Findings &amp; limits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Recommendations, what cannot be claimed, how it was built</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c>
                  <a:txBody>
                    <a:bodyPr/>
                    <a:lstStyle/>
                    <a:p>
                      <a:pPr indent="0" marL="0">
                        <a:buNone/>
                      </a:pPr>
                      <a:r>
                        <a:rPr lang="en-US" sz="1200" dirty="0">
                          <a:solidFill>
                            <a:srgbClr val="1B2A2F"/>
                          </a:solidFill>
                          <a:latin typeface="Calibri" pitchFamily="34" charset="0"/>
                          <a:ea typeface="Calibri" pitchFamily="34" charset="-122"/>
                          <a:cs typeface="Calibri" pitchFamily="34" charset="-120"/>
                        </a:rPr>
                        <a:t>docs</a:t>
                      </a:r>
                      <a:endParaRPr lang="en-US" sz="1200" dirty="0">
                        <a:latin typeface="Calibri" charset="0"/>
                        <a:ea typeface="Calibri" charset="0"/>
                        <a:cs typeface="Calibri" charset="0"/>
                      </a:endParaRPr>
                    </a:p>
                  </a:txBody>
                  <a:tcPr marL="54864" marR="54864" marT="54864" marB="54864" anchor="ctr">
                    <a:lnL w="6350" cap="flat" cmpd="sng" algn="ctr">
                      <a:solidFill>
                        <a:srgbClr val="D5DEDE"/>
                      </a:solidFill>
                      <a:prstDash val="solid"/>
                      <a:round/>
                      <a:headEnd type="none" w="med" len="med"/>
                      <a:tailEnd type="none" w="med" len="med"/>
                    </a:lnL>
                    <a:lnR w="6350" cap="flat" cmpd="sng" algn="ctr">
                      <a:solidFill>
                        <a:srgbClr val="D5DEDE"/>
                      </a:solidFill>
                      <a:prstDash val="solid"/>
                      <a:round/>
                      <a:headEnd type="none" w="med" len="med"/>
                      <a:tailEnd type="none" w="med" len="med"/>
                    </a:lnR>
                    <a:lnT w="6350" cap="flat" cmpd="sng" algn="ctr">
                      <a:solidFill>
                        <a:srgbClr val="D5DEDE"/>
                      </a:solidFill>
                      <a:prstDash val="solid"/>
                      <a:round/>
                      <a:headEnd type="none" w="med" len="med"/>
                      <a:tailEnd type="none" w="med" len="med"/>
                    </a:lnT>
                    <a:lnB w="6350" cap="flat" cmpd="sng" algn="ctr">
                      <a:solidFill>
                        <a:srgbClr val="D5DE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Status and next steps</a:t>
            </a:r>
            <a:endParaRPr lang="en-US" sz="3200" dirty="0"/>
          </a:p>
        </p:txBody>
      </p:sp>
      <p:sp>
        <p:nvSpPr>
          <p:cNvPr id="4" name="status 0"/>
          <p:cNvSpPr/>
          <p:nvPr/>
        </p:nvSpPr>
        <p:spPr>
          <a:xfrm>
            <a:off x="548640" y="1371600"/>
            <a:ext cx="1188720" cy="548640"/>
          </a:xfrm>
          <a:prstGeom prst="roundRect">
            <a:avLst>
              <a:gd name="adj" fmla="val 13333"/>
            </a:avLst>
          </a:prstGeom>
          <a:solidFill>
            <a:srgbClr val="0F7173"/>
          </a:solidFill>
          <a:ln w="12700">
            <a:solidFill>
              <a:srgbClr val="0F7173"/>
            </a:solidFill>
            <a:prstDash val="solid"/>
          </a:ln>
        </p:spPr>
      </p:sp>
      <p:sp>
        <p:nvSpPr>
          <p:cNvPr id="5" name="Text 2"/>
          <p:cNvSpPr txBox="1"/>
          <p:nvPr/>
        </p:nvSpPr>
        <p:spPr>
          <a:xfrm>
            <a:off x="548640" y="1371600"/>
            <a:ext cx="1188720" cy="548640"/>
          </a:xfrm>
          <a:prstGeom prst="rect">
            <a:avLst/>
          </a:prstGeom>
          <a:noFill/>
          <a:ln/>
        </p:spPr>
        <p:txBody>
          <a:bodyPr wrap="square" lIns="0" tIns="0" rIns="0" bIns="0" rtlCol="0" anchor="ctr"/>
          <a:lstStyle/>
          <a:p>
            <a:pPr algn="ctr" indent="0" marL="0">
              <a:buNone/>
            </a:pPr>
            <a:r>
              <a:rPr lang="en-US" sz="1500" b="1" dirty="0">
                <a:solidFill>
                  <a:srgbClr val="FFFFFF"/>
                </a:solidFill>
              </a:rPr>
              <a:t>Done</a:t>
            </a:r>
            <a:endParaRPr lang="en-US" sz="1500" dirty="0"/>
          </a:p>
        </p:txBody>
      </p:sp>
      <p:sp>
        <p:nvSpPr>
          <p:cNvPr id="6" name="Text 3"/>
          <p:cNvSpPr txBox="1"/>
          <p:nvPr/>
        </p:nvSpPr>
        <p:spPr>
          <a:xfrm>
            <a:off x="1965960" y="1371600"/>
            <a:ext cx="9601200" cy="548640"/>
          </a:xfrm>
          <a:prstGeom prst="rect">
            <a:avLst/>
          </a:prstGeom>
          <a:noFill/>
          <a:ln/>
        </p:spPr>
        <p:txBody>
          <a:bodyPr wrap="square" lIns="0" tIns="0" rIns="0" bIns="0" rtlCol="0" anchor="ctr"/>
          <a:lstStyle/>
          <a:p>
            <a:pPr indent="0" marL="0">
              <a:buNone/>
            </a:pPr>
            <a:r>
              <a:rPr lang="en-US" sz="1600" dirty="0">
                <a:solidFill>
                  <a:srgbClr val="1B2A2F"/>
                </a:solidFill>
              </a:rPr>
              <a:t>Checkpoints 1-4: data audit, pilot, forecast comparison, priority experiment, holdout, SQL reconciliation</a:t>
            </a:r>
            <a:endParaRPr lang="en-US" sz="1600" dirty="0"/>
          </a:p>
        </p:txBody>
      </p:sp>
      <p:sp>
        <p:nvSpPr>
          <p:cNvPr id="7" name="status 1"/>
          <p:cNvSpPr/>
          <p:nvPr/>
        </p:nvSpPr>
        <p:spPr>
          <a:xfrm>
            <a:off x="548640" y="2148840"/>
            <a:ext cx="1188720" cy="548640"/>
          </a:xfrm>
          <a:prstGeom prst="roundRect">
            <a:avLst>
              <a:gd name="adj" fmla="val 13333"/>
            </a:avLst>
          </a:prstGeom>
          <a:solidFill>
            <a:srgbClr val="0F7173"/>
          </a:solidFill>
          <a:ln w="12700">
            <a:solidFill>
              <a:srgbClr val="0F7173"/>
            </a:solidFill>
            <a:prstDash val="solid"/>
          </a:ln>
        </p:spPr>
      </p:sp>
      <p:sp>
        <p:nvSpPr>
          <p:cNvPr id="8" name="Text 5"/>
          <p:cNvSpPr txBox="1"/>
          <p:nvPr/>
        </p:nvSpPr>
        <p:spPr>
          <a:xfrm>
            <a:off x="548640" y="2148840"/>
            <a:ext cx="1188720" cy="548640"/>
          </a:xfrm>
          <a:prstGeom prst="rect">
            <a:avLst/>
          </a:prstGeom>
          <a:noFill/>
          <a:ln/>
        </p:spPr>
        <p:txBody>
          <a:bodyPr wrap="square" lIns="0" tIns="0" rIns="0" bIns="0" rtlCol="0" anchor="ctr"/>
          <a:lstStyle/>
          <a:p>
            <a:pPr algn="ctr" indent="0" marL="0">
              <a:buNone/>
            </a:pPr>
            <a:r>
              <a:rPr lang="en-US" sz="1500" b="1" dirty="0">
                <a:solidFill>
                  <a:srgbClr val="FFFFFF"/>
                </a:solidFill>
              </a:rPr>
              <a:t>Done</a:t>
            </a:r>
            <a:endParaRPr lang="en-US" sz="1500" dirty="0"/>
          </a:p>
        </p:txBody>
      </p:sp>
      <p:sp>
        <p:nvSpPr>
          <p:cNvPr id="9" name="Text 6"/>
          <p:cNvSpPr txBox="1"/>
          <p:nvPr/>
        </p:nvSpPr>
        <p:spPr>
          <a:xfrm>
            <a:off x="1965960" y="2148840"/>
            <a:ext cx="9601200" cy="548640"/>
          </a:xfrm>
          <a:prstGeom prst="rect">
            <a:avLst/>
          </a:prstGeom>
          <a:noFill/>
          <a:ln/>
        </p:spPr>
        <p:txBody>
          <a:bodyPr wrap="square" lIns="0" tIns="0" rIns="0" bIns="0" rtlCol="0" anchor="ctr"/>
          <a:lstStyle/>
          <a:p>
            <a:pPr indent="0" marL="0">
              <a:buNone/>
            </a:pPr>
            <a:r>
              <a:rPr lang="en-US" sz="1600" dirty="0">
                <a:solidFill>
                  <a:srgbClr val="1B2A2F"/>
                </a:solidFill>
              </a:rPr>
              <a:t>Company context in SQL; dashboard tables (351/351 checks); memo; interview walkthrough; source dictionary; README</a:t>
            </a:r>
            <a:endParaRPr lang="en-US" sz="1600" dirty="0"/>
          </a:p>
        </p:txBody>
      </p:sp>
      <p:sp>
        <p:nvSpPr>
          <p:cNvPr id="10" name="status 2"/>
          <p:cNvSpPr/>
          <p:nvPr/>
        </p:nvSpPr>
        <p:spPr>
          <a:xfrm>
            <a:off x="548640" y="2926080"/>
            <a:ext cx="1188720" cy="548640"/>
          </a:xfrm>
          <a:prstGeom prst="roundRect">
            <a:avLst>
              <a:gd name="adj" fmla="val 13333"/>
            </a:avLst>
          </a:prstGeom>
          <a:solidFill>
            <a:srgbClr val="0F7173"/>
          </a:solidFill>
          <a:ln w="12700">
            <a:solidFill>
              <a:srgbClr val="0F7173"/>
            </a:solidFill>
            <a:prstDash val="solid"/>
          </a:ln>
        </p:spPr>
      </p:sp>
      <p:sp>
        <p:nvSpPr>
          <p:cNvPr id="11" name="Text 8"/>
          <p:cNvSpPr txBox="1"/>
          <p:nvPr/>
        </p:nvSpPr>
        <p:spPr>
          <a:xfrm>
            <a:off x="548640" y="2926080"/>
            <a:ext cx="1188720" cy="548640"/>
          </a:xfrm>
          <a:prstGeom prst="rect">
            <a:avLst/>
          </a:prstGeom>
          <a:noFill/>
          <a:ln/>
        </p:spPr>
        <p:txBody>
          <a:bodyPr wrap="square" lIns="0" tIns="0" rIns="0" bIns="0" rtlCol="0" anchor="ctr"/>
          <a:lstStyle/>
          <a:p>
            <a:pPr algn="ctr" indent="0" marL="0">
              <a:buNone/>
            </a:pPr>
            <a:r>
              <a:rPr lang="en-US" sz="1500" b="1" dirty="0">
                <a:solidFill>
                  <a:srgbClr val="FFFFFF"/>
                </a:solidFill>
              </a:rPr>
              <a:t>Done</a:t>
            </a:r>
            <a:endParaRPr lang="en-US" sz="1500" dirty="0"/>
          </a:p>
        </p:txBody>
      </p:sp>
      <p:sp>
        <p:nvSpPr>
          <p:cNvPr id="12" name="Text 9"/>
          <p:cNvSpPr txBox="1"/>
          <p:nvPr/>
        </p:nvSpPr>
        <p:spPr>
          <a:xfrm>
            <a:off x="1965960" y="2926080"/>
            <a:ext cx="9601200" cy="548640"/>
          </a:xfrm>
          <a:prstGeom prst="rect">
            <a:avLst/>
          </a:prstGeom>
          <a:noFill/>
          <a:ln/>
        </p:spPr>
        <p:txBody>
          <a:bodyPr wrap="square" lIns="0" tIns="0" rIns="0" bIns="0" rtlCol="0" anchor="ctr"/>
          <a:lstStyle/>
          <a:p>
            <a:pPr indent="0" marL="0">
              <a:buNone/>
            </a:pPr>
            <a:r>
              <a:rPr lang="en-US" sz="1600" dirty="0">
                <a:solidFill>
                  <a:srgbClr val="1B2A2F"/>
                </a:solidFill>
              </a:rPr>
              <a:t>Power BI report: generated, opened, refreshed and checked page by page (10 pages, 72 visuals)</a:t>
            </a:r>
            <a:endParaRPr lang="en-US" sz="1600" dirty="0"/>
          </a:p>
        </p:txBody>
      </p:sp>
      <p:sp>
        <p:nvSpPr>
          <p:cNvPr id="13" name="status 3"/>
          <p:cNvSpPr/>
          <p:nvPr/>
        </p:nvSpPr>
        <p:spPr>
          <a:xfrm>
            <a:off x="548640" y="3703320"/>
            <a:ext cx="1188720" cy="548640"/>
          </a:xfrm>
          <a:prstGeom prst="roundRect">
            <a:avLst>
              <a:gd name="adj" fmla="val 13333"/>
            </a:avLst>
          </a:prstGeom>
          <a:solidFill>
            <a:srgbClr val="E09F3E"/>
          </a:solidFill>
          <a:ln w="12700">
            <a:solidFill>
              <a:srgbClr val="E09F3E"/>
            </a:solidFill>
            <a:prstDash val="solid"/>
          </a:ln>
        </p:spPr>
      </p:sp>
      <p:sp>
        <p:nvSpPr>
          <p:cNvPr id="14" name="Text 11"/>
          <p:cNvSpPr txBox="1"/>
          <p:nvPr/>
        </p:nvSpPr>
        <p:spPr>
          <a:xfrm>
            <a:off x="548640" y="3703320"/>
            <a:ext cx="1188720" cy="548640"/>
          </a:xfrm>
          <a:prstGeom prst="rect">
            <a:avLst/>
          </a:prstGeom>
          <a:noFill/>
          <a:ln/>
        </p:spPr>
        <p:txBody>
          <a:bodyPr wrap="square" lIns="0" tIns="0" rIns="0" bIns="0" rtlCol="0" anchor="ctr"/>
          <a:lstStyle/>
          <a:p>
            <a:pPr algn="ctr" indent="0" marL="0">
              <a:buNone/>
            </a:pPr>
            <a:r>
              <a:rPr lang="en-US" sz="1500" b="1" dirty="0">
                <a:solidFill>
                  <a:srgbClr val="FFFFFF"/>
                </a:solidFill>
              </a:rPr>
              <a:t>Next</a:t>
            </a:r>
            <a:endParaRPr lang="en-US" sz="1500" dirty="0"/>
          </a:p>
        </p:txBody>
      </p:sp>
      <p:sp>
        <p:nvSpPr>
          <p:cNvPr id="15" name="Text 12"/>
          <p:cNvSpPr txBox="1"/>
          <p:nvPr/>
        </p:nvSpPr>
        <p:spPr>
          <a:xfrm>
            <a:off x="1965960" y="3703320"/>
            <a:ext cx="9601200" cy="548640"/>
          </a:xfrm>
          <a:prstGeom prst="rect">
            <a:avLst/>
          </a:prstGeom>
          <a:noFill/>
          <a:ln/>
        </p:spPr>
        <p:txBody>
          <a:bodyPr wrap="square" lIns="0" tIns="0" rIns="0" bIns="0" rtlCol="0" anchor="ctr"/>
          <a:lstStyle/>
          <a:p>
            <a:pPr indent="0" marL="0">
              <a:buNone/>
            </a:pPr>
            <a:r>
              <a:rPr lang="en-US" sz="1600" dirty="0">
                <a:solidFill>
                  <a:srgbClr val="1B2A2F"/>
                </a:solidFill>
              </a:rPr>
              <a:t>Optional: run the statsmodels ETS cross-check on the laptop and record the result</a:t>
            </a:r>
            <a:endParaRPr lang="en-US" sz="1600" dirty="0"/>
          </a:p>
        </p:txBody>
      </p:sp>
      <p:sp>
        <p:nvSpPr>
          <p:cNvPr id="16" name="status 4"/>
          <p:cNvSpPr/>
          <p:nvPr/>
        </p:nvSpPr>
        <p:spPr>
          <a:xfrm>
            <a:off x="548640" y="4480560"/>
            <a:ext cx="1188720" cy="548640"/>
          </a:xfrm>
          <a:prstGeom prst="roundRect">
            <a:avLst>
              <a:gd name="adj" fmla="val 13333"/>
            </a:avLst>
          </a:prstGeom>
          <a:solidFill>
            <a:srgbClr val="3D5A80"/>
          </a:solidFill>
          <a:ln w="12700">
            <a:solidFill>
              <a:srgbClr val="3D5A80"/>
            </a:solidFill>
            <a:prstDash val="solid"/>
          </a:ln>
        </p:spPr>
      </p:sp>
      <p:sp>
        <p:nvSpPr>
          <p:cNvPr id="17" name="Text 14"/>
          <p:cNvSpPr txBox="1"/>
          <p:nvPr/>
        </p:nvSpPr>
        <p:spPr>
          <a:xfrm>
            <a:off x="548640" y="4480560"/>
            <a:ext cx="1188720" cy="548640"/>
          </a:xfrm>
          <a:prstGeom prst="rect">
            <a:avLst/>
          </a:prstGeom>
          <a:noFill/>
          <a:ln/>
        </p:spPr>
        <p:txBody>
          <a:bodyPr wrap="square" lIns="0" tIns="0" rIns="0" bIns="0" rtlCol="0" anchor="ctr"/>
          <a:lstStyle/>
          <a:p>
            <a:pPr algn="ctr" indent="0" marL="0">
              <a:buNone/>
            </a:pPr>
            <a:r>
              <a:rPr lang="en-US" sz="1500" b="1" dirty="0">
                <a:solidFill>
                  <a:srgbClr val="FFFFFF"/>
                </a:solidFill>
              </a:rPr>
              <a:t>You</a:t>
            </a:r>
            <a:endParaRPr lang="en-US" sz="1500" dirty="0"/>
          </a:p>
        </p:txBody>
      </p:sp>
      <p:sp>
        <p:nvSpPr>
          <p:cNvPr id="18" name="Text 15"/>
          <p:cNvSpPr txBox="1"/>
          <p:nvPr/>
        </p:nvSpPr>
        <p:spPr>
          <a:xfrm>
            <a:off x="1965960" y="4480560"/>
            <a:ext cx="9601200" cy="548640"/>
          </a:xfrm>
          <a:prstGeom prst="rect">
            <a:avLst/>
          </a:prstGeom>
          <a:noFill/>
          <a:ln/>
        </p:spPr>
        <p:txBody>
          <a:bodyPr wrap="square" lIns="0" tIns="0" rIns="0" bIns="0" rtlCol="0" anchor="ctr"/>
          <a:lstStyle/>
          <a:p>
            <a:pPr indent="0" marL="0">
              <a:buNone/>
            </a:pPr>
            <a:r>
              <a:rPr lang="en-US" sz="1600" dirty="0">
                <a:solidFill>
                  <a:srgbClr val="1B2A2F"/>
                </a:solidFill>
              </a:rPr>
              <a:t>Learn the numbers well enough to explain them without notes</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E6B6E"/>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Rigorous testing, modest gains, honest conclusions</a:t>
            </a:r>
            <a:endParaRPr lang="en-US" sz="4000" dirty="0"/>
          </a:p>
        </p:txBody>
      </p:sp>
      <p:sp>
        <p:nvSpPr>
          <p:cNvPr id="3" name="Text 0"/>
          <p:cNvSpPr/>
          <p:nvPr>
            <p:ph idx="101" type="body" hasCustomPrompt="1"/>
          </p:nvPr>
        </p:nvSpPr>
        <p:spPr>
          <a:xfrm>
            <a:off x="731520" y="3794760"/>
            <a:ext cx="10698480" cy="1463040"/>
          </a:xfrm>
          <a:prstGeom prst="rect">
            <a:avLst/>
          </a:prstGeom>
          <a:noFill/>
          <a:ln/>
        </p:spPr>
        <p:txBody>
          <a:bodyPr wrap="square" lIns="0" tIns="0" rIns="0" bIns="0" rtlCol="0" anchor="t"/>
          <a:lstStyle/>
          <a:p>
            <a:pPr indent="0" marL="0">
              <a:buNone/>
            </a:pPr>
            <a:r>
              <a:rPr lang="en-US" sz="1800" dirty="0">
                <a:solidFill>
                  <a:srgbClr val="CFE3E3"/>
                </a:solidFill>
                <a:latin typeface="Calibri" pitchFamily="34" charset="0"/>
                <a:ea typeface="Calibri" pitchFamily="34" charset="-122"/>
                <a:cs typeface="Calibri" pitchFamily="34" charset="-120"/>
              </a:rPr>
              <a:t>LightGBM is slightly better than ETS; ranges are close to their stated 90%; simple review rules are as good as the combined score.</a:t>
            </a:r>
            <a:endParaRPr lang="en-US" sz="1800" dirty="0"/>
          </a:p>
          <a:p>
            <a:pPr indent="0" marL="0">
              <a:buNone/>
            </a:pPr>
            <a:r>
              <a:rPr lang="en-US" sz="1800" dirty="0">
                <a:solidFill>
                  <a:srgbClr val="CFE3E3"/>
                </a:solidFill>
                <a:latin typeface="Calibri" pitchFamily="34" charset="0"/>
                <a:ea typeface="Calibri" pitchFamily="34" charset="-122"/>
                <a:cs typeface="Calibri" pitchFamily="34" charset="-120"/>
              </a:rPr>
              <a:t>Everything is reproducible from the scripts, SQL and saved results in the project folder.</a:t>
            </a:r>
            <a:endParaRPr lang="en-US" sz="1800" dirty="0"/>
          </a:p>
        </p:txBody>
      </p:sp>
    </p:spTree>
  </p:cSld>
  <p:clrMapOvr>
    <a:masterClrMapping/>
  </p:clrMapOvr>
</p:sld>
</file>

<file path=ppt/theme/theme1.xml><?xml version="1.0" encoding="utf-8"?>
<a:theme xmlns:a="http://schemas.openxmlformats.org/drawingml/2006/main" name="Demand Review">
  <a:themeElements>
    <a:clrScheme name="Demand Review">
      <a:dk1>
        <a:srgbClr val="1B2A2F"/>
      </a:dk1>
      <a:lt1>
        <a:srgbClr val="FFFFFF"/>
      </a:lt1>
      <a:dk2>
        <a:srgbClr val="0E3B43"/>
      </a:dk2>
      <a:lt2>
        <a:srgbClr val="EEF3F3"/>
      </a:lt2>
      <a:accent1>
        <a:srgbClr val="0F7173"/>
      </a:accent1>
      <a:accent2>
        <a:srgbClr val="E09F3E"/>
      </a:accent2>
      <a:accent3>
        <a:srgbClr val="9AA5A6"/>
      </a:accent3>
      <a:accent4>
        <a:srgbClr val="5B8E7D"/>
      </a:accent4>
      <a:accent5>
        <a:srgbClr val="B5544A"/>
      </a:accent5>
      <a:accent6>
        <a:srgbClr val="3D5A80"/>
      </a:accent6>
      <a:hlink>
        <a:srgbClr val="0F7173"/>
      </a:hlink>
      <a:folHlink>
        <a:srgbClr val="3D5A80"/>
      </a:folHlink>
    </a:clrScheme>
    <a:fontScheme name="Demand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Walmart Demand Planning: Project Review</dc:title>
  <dc:subject>PptxGenJS Presentation</dc:subject>
  <dc:creator>Independent study on public M5 data</dc:creator>
  <cp:lastModifiedBy>Independent study on public M5 data</cp:lastModifiedBy>
  <cp:revision>1</cp:revision>
  <dcterms:created xsi:type="dcterms:W3CDTF">2026-10-05T14:42:49Z</dcterms:created>
  <dcterms:modified xsi:type="dcterms:W3CDTF">2026-10-05T14:42:49Z</dcterms:modified>
</cp:coreProperties>
</file>